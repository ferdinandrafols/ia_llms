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embeddedFontLst>
    <p:embeddedFont>
      <p:font typeface="Inter SemiBold"/>
      <p:regular r:id="rId20"/>
      <p:bold r:id="rId21"/>
      <p:italic r:id="rId22"/>
      <p:boldItalic r:id="rId23"/>
    </p:embeddedFont>
    <p:embeddedFont>
      <p:font typeface="Inter"/>
      <p:regular r:id="rId24"/>
      <p:bold r:id="rId25"/>
      <p:italic r:id="rId26"/>
      <p:boldItalic r:id="rId27"/>
    </p:embeddedFont>
    <p:embeddedFont>
      <p:font typeface="Roboto Mono"/>
      <p:regular r:id="rId28"/>
      <p:bold r:id="rId29"/>
      <p:italic r:id="rId30"/>
      <p:boldItalic r:id="rId31"/>
    </p:embeddedFont>
    <p:embeddedFont>
      <p:font typeface="Merriweather"/>
      <p:regular r:id="rId32"/>
      <p:bold r:id="rId33"/>
      <p:italic r:id="rId34"/>
      <p:boldItalic r:id="rId35"/>
    </p:embeddedFont>
    <p:embeddedFont>
      <p:font typeface="Inter Black"/>
      <p:bold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SemiBold-regular.fntdata"/><Relationship Id="rId22" Type="http://schemas.openxmlformats.org/officeDocument/2006/relationships/font" Target="fonts/InterSemiBold-italic.fntdata"/><Relationship Id="rId21" Type="http://schemas.openxmlformats.org/officeDocument/2006/relationships/font" Target="fonts/InterSemiBold-bold.fntdata"/><Relationship Id="rId24" Type="http://schemas.openxmlformats.org/officeDocument/2006/relationships/font" Target="fonts/Inter-regular.fntdata"/><Relationship Id="rId23" Type="http://schemas.openxmlformats.org/officeDocument/2006/relationships/font" Target="fonts/Inter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nter-italic.fntdata"/><Relationship Id="rId25" Type="http://schemas.openxmlformats.org/officeDocument/2006/relationships/font" Target="fonts/Inter-bold.fntdata"/><Relationship Id="rId28" Type="http://schemas.openxmlformats.org/officeDocument/2006/relationships/font" Target="fonts/RobotoMono-regular.fntdata"/><Relationship Id="rId27" Type="http://schemas.openxmlformats.org/officeDocument/2006/relationships/font" Target="fonts/Inter-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ono-boldItalic.fntdata"/><Relationship Id="rId30" Type="http://schemas.openxmlformats.org/officeDocument/2006/relationships/font" Target="fonts/RobotoMono-italic.fntdata"/><Relationship Id="rId11" Type="http://schemas.openxmlformats.org/officeDocument/2006/relationships/slide" Target="slides/slide6.xml"/><Relationship Id="rId33" Type="http://schemas.openxmlformats.org/officeDocument/2006/relationships/font" Target="fonts/Merriweather-bold.fntdata"/><Relationship Id="rId10" Type="http://schemas.openxmlformats.org/officeDocument/2006/relationships/slide" Target="slides/slide5.xml"/><Relationship Id="rId32" Type="http://schemas.openxmlformats.org/officeDocument/2006/relationships/font" Target="fonts/Merriweather-regular.fntdata"/><Relationship Id="rId13" Type="http://schemas.openxmlformats.org/officeDocument/2006/relationships/slide" Target="slides/slide8.xml"/><Relationship Id="rId35" Type="http://schemas.openxmlformats.org/officeDocument/2006/relationships/font" Target="fonts/Merriweather-boldItalic.fntdata"/><Relationship Id="rId12" Type="http://schemas.openxmlformats.org/officeDocument/2006/relationships/slide" Target="slides/slide7.xml"/><Relationship Id="rId34" Type="http://schemas.openxmlformats.org/officeDocument/2006/relationships/font" Target="fonts/Merriweather-italic.fntdata"/><Relationship Id="rId15" Type="http://schemas.openxmlformats.org/officeDocument/2006/relationships/slide" Target="slides/slide10.xml"/><Relationship Id="rId37" Type="http://schemas.openxmlformats.org/officeDocument/2006/relationships/font" Target="fonts/InterBlack-boldItalic.fntdata"/><Relationship Id="rId14" Type="http://schemas.openxmlformats.org/officeDocument/2006/relationships/slide" Target="slides/slide9.xml"/><Relationship Id="rId36" Type="http://schemas.openxmlformats.org/officeDocument/2006/relationships/font" Target="fonts/InterBlack-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“Este projeto analisa diferenças entre frases de Barack Obama e Donald Trump usando técnicas de processamento de linguagem natural. A ideia principal foi transformar frases em representações numéricas chamadas embeddings e então analisar essas representações para entender se existem diferenças mensuráveis entre os discursos dos dois autores. Para isso usamos visualização vetorial, classificação supervisionada e busca semântica.”</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“O objetivo principal do projeto foi explorar se técnicas modernas de NLP conseguem capturar diferenças semânticas entre discursos políticos. Em particular queríamos responder três perguntas: primeiro, se as frases dos dois autores ocupam regiões diferentes no espaço semântico; segundo, se um modelo consegue prever automaticamente quem disse uma frase; e terceiro, se conseguimos observar diferenças temáticas usando busca vetorial.”</a:t>
            </a:r>
            <a:endParaRPr/>
          </a:p>
        </p:txBody>
      </p:sp>
      <p:sp>
        <p:nvSpPr>
          <p:cNvPr id="100" name="Google Shape;10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“O dataset utilizado contém 500 frases famosas de Barack Obama e 500 frases de Donald Trump. Cada frase foi tratada como uma observação independente no experimento. Antes da análise realizamos um pré-processamento simples, apenas limpando espaços e garantindo que o texto estivesse padronizado. A ideia foi manter as frases o mais próximas possível do conteúdo original.”</a:t>
            </a:r>
            <a:endParaRPr/>
          </a:p>
        </p:txBody>
      </p:sp>
      <p:sp>
        <p:nvSpPr>
          <p:cNvPr id="124" name="Google Shape;12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“O primeiro passo do pipeline foi transformar cada frase em um embedding. Um embedding é um vetor numérico que representa o significado de um texto. Utilizamos o modelo all-MiniLM-L6-v2 da biblioteca SentenceTransformers, que é um modelo leve e bastante utilizado para tarefas de similaridade semântica. Após gerar os embeddings, normalizamos os vetores para garantir que a comparação usando similaridade cosseno fosse consistente.”</a:t>
            </a:r>
            <a:br>
              <a:rPr lang="en-US"/>
            </a:br>
            <a:br>
              <a:rPr lang="en-US"/>
            </a:br>
            <a:r>
              <a:rPr lang="en-US" sz="1200">
                <a:solidFill>
                  <a:srgbClr val="E3E3E3"/>
                </a:solidFill>
                <a:highlight>
                  <a:srgbClr val="282A2C"/>
                </a:highlight>
              </a:rPr>
              <a:t>Complementando o UMAP, a visualização com PCA (célula </a:t>
            </a:r>
            <a:r>
              <a:rPr lang="en-US" sz="1200">
                <a:solidFill>
                  <a:srgbClr val="E3E3E3"/>
                </a:solidFill>
                <a:highlight>
                  <a:srgbClr val="282A2C"/>
                </a:highlight>
                <a:latin typeface="Roboto Mono"/>
                <a:ea typeface="Roboto Mono"/>
                <a:cs typeface="Roboto Mono"/>
                <a:sym typeface="Roboto Mono"/>
              </a:rPr>
              <a:t>d6ea96f9</a:t>
            </a:r>
            <a:r>
              <a:rPr lang="en-US" sz="1200">
                <a:solidFill>
                  <a:srgbClr val="E3E3E3"/>
                </a:solidFill>
                <a:highlight>
                  <a:srgbClr val="282A2C"/>
                </a:highlight>
              </a:rPr>
              <a:t>) também demonstrou uma </a:t>
            </a:r>
            <a:r>
              <a:rPr b="1" lang="en-US" sz="1200">
                <a:solidFill>
                  <a:srgbClr val="E3E3E3"/>
                </a:solidFill>
                <a:highlight>
                  <a:srgbClr val="282A2C"/>
                </a:highlight>
              </a:rPr>
              <a:t>clara separabilidade</a:t>
            </a:r>
            <a:r>
              <a:rPr lang="en-US" sz="1200">
                <a:solidFill>
                  <a:srgbClr val="E3E3E3"/>
                </a:solidFill>
                <a:highlight>
                  <a:srgbClr val="282A2C"/>
                </a:highlight>
              </a:rPr>
              <a:t> entre as frases de Obama e Trump. Embora o PCA seja uma técnica linear que foca na preservação da variância global (diferente do UMAP que prioriza a estrutura local e não-linear), a distinção entre os discursos dos dois autores permanece evidente. Isso reforça a conclusão de que os embeddings capturam de forma robusta as características semânticas e retóricas que os diferenciam, independentemente da técnica linear ou não-linear de redução de dimensionalidade utilizada. A coerência na separação visível em ambas as projeções sublinha a força dos embeddings em discriminar os estilos de comunicação.</a:t>
            </a:r>
            <a:endParaRPr/>
          </a:p>
        </p:txBody>
      </p:sp>
      <p:sp>
        <p:nvSpPr>
          <p:cNvPr id="159" name="Google Shape;15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t>"Neste slide, trouxemos os nossos embeddings do espaço de 384 dimensões para apenas 2D usando o algoritmo UMAP. Para garantir uma visualização fiel, calibramos o modelo com vinte vizinhos, o que preserva a estrutura global, e uma distância mínima de zero vírgula zero cinco, ajudando a condensar os grupos. Além disso, usamos a similaridade de cosseno, que é a métrica padrão-ouro para capturar o real significado semântico das frases.</a:t>
            </a:r>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 gráfico gerado pelo UMAP mostra uma separação interessante entre as frases dos dois autores. O resultado mais importante aqui é visual: notemo a separabilidade clara entre os discursos. Apesar de uma pequena sobreposição nas bordas, temos clusters muito bem definidos para Obama e para Trump. Isso valida a nossa hipótese inicial de que os contrastes retóricos e temáticos entre os dois não são apenas perceptíveis para nós, humanos, mas são marcantes o suficiente para serem mapeados e separados matematicamente por um modelo de linguagem."</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
        <p:nvSpPr>
          <p:cNvPr id="177" name="Google Shape;17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“Para quantificar essa diferença de forma mais objetiva, calculamos o centróide dos embeddings de cada autor. O centróide é basicamente a média de todos os vetores de um grupo. Em seguida calculamos a distância cosseno entre esses dois centróides. O valor obtido foi aproximadamente 0.1984, indicando que os discursos possuem alguma diferença semântica, mas também compartilham temas comuns.”</a:t>
            </a:r>
            <a:endParaRPr/>
          </a:p>
        </p:txBody>
      </p:sp>
      <p:sp>
        <p:nvSpPr>
          <p:cNvPr id="195" name="Google Shape;19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“Depois testamos se um modelo de machine learning conseguiria identificar automaticamente quem disse cada frase. Utilizamos um classificador simples de regressão logística treinado sobre os embeddings. Dividimos o dataset em 80% para treino e 20% para teste, mantendo a proporção entre os dois autores.”</a:t>
            </a:r>
            <a:endParaRPr/>
          </a:p>
        </p:txBody>
      </p:sp>
      <p:sp>
        <p:nvSpPr>
          <p:cNvPr id="217" name="Google Shape;21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“O classificador alcançou uma acurácia de aproximadamente 94%. Isso é um resultado bastante alto, especialmente considerando que usamos apenas embeddings e um modelo simples. Esse resultado indica que existem padrões linguísticos consistentes que diferenciam os discursos de Obama e Trump.”</a:t>
            </a:r>
            <a:endParaRPr/>
          </a:p>
        </p:txBody>
      </p:sp>
      <p:sp>
        <p:nvSpPr>
          <p:cNvPr id="243" name="Google Shape;24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“Também implementamos uma busca vetorial simples para analisar temas específicos. O processo funciona da seguinte forma: primeiro transformamos uma consulta em embedding, depois comparamos esse vetor com todos os embeddings das frases usando similaridade cosseno, e finalmente retornamos as frases mais próximas semanticamente.”</a:t>
            </a:r>
            <a:endParaRPr/>
          </a:p>
        </p:txBody>
      </p:sp>
      <p:sp>
        <p:nvSpPr>
          <p:cNvPr id="259" name="Google Shape;25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 busca vetorial revelou diferenças interessantes na forma como os dois autores abordam certos temas. Por exemplo, em tópicos econômicos Obama tende a enfatizar inovação e crescimento inclusivo, enquanto Trump frequentemente enfatiza crescimento econômico direto e oportunidades. Em temas de imigração, Obama tende a falar em justiça e equilíbrio, enquanto Trump enfatiza proteção de fronteiras e soberania.”</a:t>
            </a:r>
            <a:endParaRPr/>
          </a:p>
        </p:txBody>
      </p:sp>
      <p:sp>
        <p:nvSpPr>
          <p:cNvPr id="290" name="Google Shape;29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cf2841baf1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cf2841baf1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“Este projeto não implementa um sistema completo de RAG, mas utiliza componentes importantes dessa arquitetura. Primeiro geramos embeddings das frases usando um modelo Transformer. Depois usamos esses embeddings para realizar busca vetorial e recuperar frases semanticamente relevantes. Em um sistema RAG completo, essas evidências seriam enviadas para um LLM para gerar a resposta final. Aqui implementamos especificamente a etapa de retrieval.”</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“Em resumo, os resultados mostram que técnicas relativamente simples de NLP conseguem capturar diferenças semânticas entre discursos políticos. Observamos separação visual no UMAP, diferenças vetoriais entre os centróides, alta acurácia na classificação e contrastes temáticos identificados pela busca vetorial. Além disso, o projeto também ilustra conceitos importantes utilizados em sistemas modernos de LLMs, como embeddings e recuperação de informações, que são componentes fundamentais de arquiteturas como RAG.”</a:t>
            </a:r>
            <a:endParaRPr/>
          </a:p>
        </p:txBody>
      </p:sp>
      <p:sp>
        <p:nvSpPr>
          <p:cNvPr id="333" name="Google Shape;33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cf2841baf1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cf2841baf1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 Embora exista alguma sobreposição, a maioria das frases forma clusters relativamente distintos. Isso sugere que o modelo de embeddings consegue capturar diferenças semânticas reais entre os discursos dos dois presidentes.”</a:t>
            </a:r>
            <a:endParaRPr/>
          </a:p>
          <a:p>
            <a:pPr indent="0" lvl="0" marL="0" rtl="0" algn="l">
              <a:spcBef>
                <a:spcPts val="0"/>
              </a:spcBef>
              <a:spcAft>
                <a:spcPts val="0"/>
              </a:spcAft>
              <a:buNone/>
            </a:pPr>
            <a:r>
              <a:t/>
            </a:r>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“O gráfico gerado pelo UMAP mostrou uma separação interessante entre as frases dos dois autores. O resultado mais importante aqui é visual: notemo a separabilidade clara entre os discursos. Apesar de uma pequena sobreposição nas bordas, temos clusters muito bem definidos para Obama e para Trump. Isso valida a nossa hipótese inicial de que os contrastes retóricos e temáticos entre os dois não são apenas perceptíveis para nós, humanos, mas são marcantes o suficiente para serem mapeados e separados matematicamente por um modelo de linguagem."</a:t>
            </a:r>
            <a:endParaRPr/>
          </a:p>
        </p:txBody>
      </p:sp>
      <p:sp>
        <p:nvSpPr>
          <p:cNvPr id="363" name="Google Shape;36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4.png"/><Relationship Id="rId6" Type="http://schemas.openxmlformats.org/officeDocument/2006/relationships/image" Target="../media/image8.png"/><Relationship Id="rId7"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1.png"/><Relationship Id="rId9"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13.png"/><Relationship Id="rId7" Type="http://schemas.openxmlformats.org/officeDocument/2006/relationships/image" Target="../media/image7.png"/><Relationship Id="rId8"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24.png"/><Relationship Id="rId5" Type="http://schemas.openxmlformats.org/officeDocument/2006/relationships/image" Target="../media/image28.png"/><Relationship Id="rId6" Type="http://schemas.openxmlformats.org/officeDocument/2006/relationships/image" Target="../media/image20.png"/><Relationship Id="rId7" Type="http://schemas.openxmlformats.org/officeDocument/2006/relationships/image" Target="../media/image3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9.png"/><Relationship Id="rId5"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image" Target="../media/image22.png"/><Relationship Id="rId6" Type="http://schemas.openxmlformats.org/officeDocument/2006/relationships/image" Target="../media/image18.png"/><Relationship Id="rId7"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4.png"/><Relationship Id="rId5" Type="http://schemas.openxmlformats.org/officeDocument/2006/relationships/image" Target="../media/image3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26.png"/><Relationship Id="rId10" Type="http://schemas.openxmlformats.org/officeDocument/2006/relationships/image" Target="../media/image45.png"/><Relationship Id="rId9" Type="http://schemas.openxmlformats.org/officeDocument/2006/relationships/image" Target="../media/image32.png"/><Relationship Id="rId5" Type="http://schemas.openxmlformats.org/officeDocument/2006/relationships/image" Target="../media/image23.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3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27.png"/><Relationship Id="rId9" Type="http://schemas.openxmlformats.org/officeDocument/2006/relationships/image" Target="../media/image43.png"/><Relationship Id="rId5" Type="http://schemas.openxmlformats.org/officeDocument/2006/relationships/image" Target="../media/image31.png"/><Relationship Id="rId6" Type="http://schemas.openxmlformats.org/officeDocument/2006/relationships/image" Target="../media/image37.png"/><Relationship Id="rId7" Type="http://schemas.openxmlformats.org/officeDocument/2006/relationships/image" Target="../media/image39.png"/><Relationship Id="rId8" Type="http://schemas.openxmlformats.org/officeDocument/2006/relationships/image" Target="../media/image4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41.png"/><Relationship Id="rId5" Type="http://schemas.openxmlformats.org/officeDocument/2006/relationships/image" Target="../media/image40.png"/><Relationship Id="rId6" Type="http://schemas.openxmlformats.org/officeDocument/2006/relationships/image" Target="../media/image4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38.png"/><Relationship Id="rId5"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6096000" y="0"/>
            <a:ext cx="6096000" cy="6858000"/>
          </a:xfrm>
          <a:prstGeom prst="rect">
            <a:avLst/>
          </a:prstGeom>
          <a:noFill/>
          <a:ln>
            <a:noFill/>
          </a:ln>
        </p:spPr>
      </p:pic>
      <p:sp>
        <p:nvSpPr>
          <p:cNvPr id="86" name="Google Shape;86;p13"/>
          <p:cNvSpPr txBox="1"/>
          <p:nvPr/>
        </p:nvSpPr>
        <p:spPr>
          <a:xfrm>
            <a:off x="571500" y="899517"/>
            <a:ext cx="5200650" cy="178281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900" u="none" cap="none" strike="noStrike">
                <a:solidFill>
                  <a:srgbClr val="F8FAFC"/>
                </a:solidFill>
                <a:latin typeface="Merriweather"/>
                <a:ea typeface="Merriweather"/>
                <a:cs typeface="Merriweather"/>
                <a:sym typeface="Merriweather"/>
              </a:rPr>
              <a:t>Obama vs Trump: Contrastes Vetoriais e Semânticos</a:t>
            </a:r>
            <a:endParaRPr/>
          </a:p>
        </p:txBody>
      </p:sp>
      <p:sp>
        <p:nvSpPr>
          <p:cNvPr id="87" name="Google Shape;87;p13"/>
          <p:cNvSpPr txBox="1"/>
          <p:nvPr/>
        </p:nvSpPr>
        <p:spPr>
          <a:xfrm>
            <a:off x="571500" y="2872829"/>
            <a:ext cx="4953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Análise de discurso político usando técnicas avançadas de inteligência artificial.</a:t>
            </a:r>
            <a:endParaRPr/>
          </a:p>
        </p:txBody>
      </p:sp>
      <p:sp>
        <p:nvSpPr>
          <p:cNvPr id="88" name="Google Shape;88;p13"/>
          <p:cNvSpPr txBox="1"/>
          <p:nvPr/>
        </p:nvSpPr>
        <p:spPr>
          <a:xfrm>
            <a:off x="647700" y="3673881"/>
            <a:ext cx="114300"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CBD5E1"/>
                </a:solidFill>
                <a:latin typeface="Inter"/>
                <a:ea typeface="Inter"/>
                <a:cs typeface="Inter"/>
                <a:sym typeface="Inter"/>
              </a:rPr>
              <a:t>•</a:t>
            </a:r>
            <a:endParaRPr/>
          </a:p>
        </p:txBody>
      </p:sp>
      <p:sp>
        <p:nvSpPr>
          <p:cNvPr id="89" name="Google Shape;89;p13"/>
          <p:cNvSpPr txBox="1"/>
          <p:nvPr/>
        </p:nvSpPr>
        <p:spPr>
          <a:xfrm>
            <a:off x="762000" y="3672929"/>
            <a:ext cx="4762500" cy="335160"/>
          </a:xfrm>
          <a:prstGeom prst="rect">
            <a:avLst/>
          </a:prstGeom>
          <a:noFill/>
          <a:ln>
            <a:noFill/>
          </a:ln>
        </p:spPr>
        <p:txBody>
          <a:bodyPr anchorCtr="0" anchor="t" bIns="0" lIns="11430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Inter"/>
                <a:ea typeface="Inter"/>
                <a:cs typeface="Inter"/>
                <a:sym typeface="Inter"/>
              </a:rPr>
              <a:t>Processamento de Linguagem Natural (NLP)</a:t>
            </a:r>
            <a:endParaRPr/>
          </a:p>
        </p:txBody>
      </p:sp>
      <p:sp>
        <p:nvSpPr>
          <p:cNvPr id="90" name="Google Shape;90;p13"/>
          <p:cNvSpPr txBox="1"/>
          <p:nvPr/>
        </p:nvSpPr>
        <p:spPr>
          <a:xfrm>
            <a:off x="647700" y="4123342"/>
            <a:ext cx="114300"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CBD5E1"/>
                </a:solidFill>
                <a:latin typeface="Inter"/>
                <a:ea typeface="Inter"/>
                <a:cs typeface="Inter"/>
                <a:sym typeface="Inter"/>
              </a:rPr>
              <a:t>•</a:t>
            </a:r>
            <a:endParaRPr/>
          </a:p>
        </p:txBody>
      </p:sp>
      <p:sp>
        <p:nvSpPr>
          <p:cNvPr id="91" name="Google Shape;91;p13"/>
          <p:cNvSpPr txBox="1"/>
          <p:nvPr/>
        </p:nvSpPr>
        <p:spPr>
          <a:xfrm>
            <a:off x="762000" y="4122390"/>
            <a:ext cx="4762500" cy="335160"/>
          </a:xfrm>
          <a:prstGeom prst="rect">
            <a:avLst/>
          </a:prstGeom>
          <a:noFill/>
          <a:ln>
            <a:noFill/>
          </a:ln>
        </p:spPr>
        <p:txBody>
          <a:bodyPr anchorCtr="0" anchor="t" bIns="0" lIns="11430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Inter"/>
                <a:ea typeface="Inter"/>
                <a:cs typeface="Inter"/>
                <a:sym typeface="Inter"/>
              </a:rPr>
              <a:t>Geração de Embeddings</a:t>
            </a:r>
            <a:endParaRPr/>
          </a:p>
        </p:txBody>
      </p:sp>
      <p:sp>
        <p:nvSpPr>
          <p:cNvPr id="92" name="Google Shape;92;p13"/>
          <p:cNvSpPr txBox="1"/>
          <p:nvPr/>
        </p:nvSpPr>
        <p:spPr>
          <a:xfrm>
            <a:off x="647700" y="4572803"/>
            <a:ext cx="114300"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CBD5E1"/>
                </a:solidFill>
                <a:latin typeface="Inter"/>
                <a:ea typeface="Inter"/>
                <a:cs typeface="Inter"/>
                <a:sym typeface="Inter"/>
              </a:rPr>
              <a:t>•</a:t>
            </a:r>
            <a:endParaRPr/>
          </a:p>
        </p:txBody>
      </p:sp>
      <p:sp>
        <p:nvSpPr>
          <p:cNvPr id="93" name="Google Shape;93;p13"/>
          <p:cNvSpPr txBox="1"/>
          <p:nvPr/>
        </p:nvSpPr>
        <p:spPr>
          <a:xfrm>
            <a:off x="762000" y="4571851"/>
            <a:ext cx="4762500" cy="335160"/>
          </a:xfrm>
          <a:prstGeom prst="rect">
            <a:avLst/>
          </a:prstGeom>
          <a:noFill/>
          <a:ln>
            <a:noFill/>
          </a:ln>
        </p:spPr>
        <p:txBody>
          <a:bodyPr anchorCtr="0" anchor="t" bIns="0" lIns="11430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Inter"/>
                <a:ea typeface="Inter"/>
                <a:cs typeface="Inter"/>
                <a:sym typeface="Inter"/>
              </a:rPr>
              <a:t>Visualização Vetorial</a:t>
            </a:r>
            <a:endParaRPr/>
          </a:p>
        </p:txBody>
      </p:sp>
      <p:sp>
        <p:nvSpPr>
          <p:cNvPr id="94" name="Google Shape;94;p13"/>
          <p:cNvSpPr txBox="1"/>
          <p:nvPr/>
        </p:nvSpPr>
        <p:spPr>
          <a:xfrm>
            <a:off x="647700" y="5022264"/>
            <a:ext cx="114300"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CBD5E1"/>
                </a:solidFill>
                <a:latin typeface="Inter"/>
                <a:ea typeface="Inter"/>
                <a:cs typeface="Inter"/>
                <a:sym typeface="Inter"/>
              </a:rPr>
              <a:t>•</a:t>
            </a:r>
            <a:endParaRPr/>
          </a:p>
        </p:txBody>
      </p:sp>
      <p:sp>
        <p:nvSpPr>
          <p:cNvPr id="95" name="Google Shape;95;p13"/>
          <p:cNvSpPr txBox="1"/>
          <p:nvPr/>
        </p:nvSpPr>
        <p:spPr>
          <a:xfrm>
            <a:off x="762000" y="5021312"/>
            <a:ext cx="4762500" cy="335160"/>
          </a:xfrm>
          <a:prstGeom prst="rect">
            <a:avLst/>
          </a:prstGeom>
          <a:noFill/>
          <a:ln>
            <a:noFill/>
          </a:ln>
        </p:spPr>
        <p:txBody>
          <a:bodyPr anchorCtr="0" anchor="t" bIns="0" lIns="11430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Inter"/>
                <a:ea typeface="Inter"/>
                <a:cs typeface="Inter"/>
                <a:sym typeface="Inter"/>
              </a:rPr>
              <a:t>Classificação Supervisionada</a:t>
            </a:r>
            <a:endParaRPr/>
          </a:p>
        </p:txBody>
      </p:sp>
      <p:sp>
        <p:nvSpPr>
          <p:cNvPr id="96" name="Google Shape;96;p13"/>
          <p:cNvSpPr txBox="1"/>
          <p:nvPr/>
        </p:nvSpPr>
        <p:spPr>
          <a:xfrm>
            <a:off x="647700" y="5471725"/>
            <a:ext cx="114300"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CBD5E1"/>
                </a:solidFill>
                <a:latin typeface="Inter"/>
                <a:ea typeface="Inter"/>
                <a:cs typeface="Inter"/>
                <a:sym typeface="Inter"/>
              </a:rPr>
              <a:t>•</a:t>
            </a:r>
            <a:endParaRPr/>
          </a:p>
        </p:txBody>
      </p:sp>
      <p:sp>
        <p:nvSpPr>
          <p:cNvPr id="97" name="Google Shape;97;p13"/>
          <p:cNvSpPr txBox="1"/>
          <p:nvPr/>
        </p:nvSpPr>
        <p:spPr>
          <a:xfrm>
            <a:off x="762000" y="5470773"/>
            <a:ext cx="4762500" cy="335160"/>
          </a:xfrm>
          <a:prstGeom prst="rect">
            <a:avLst/>
          </a:prstGeom>
          <a:noFill/>
          <a:ln>
            <a:noFill/>
          </a:ln>
        </p:spPr>
        <p:txBody>
          <a:bodyPr anchorCtr="0" anchor="t" bIns="0" lIns="11430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Inter"/>
                <a:ea typeface="Inter"/>
                <a:cs typeface="Inter"/>
                <a:sym typeface="Inter"/>
              </a:rPr>
              <a:t>Busca Semântica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01" name="Shape 101"/>
        <p:cNvGrpSpPr/>
        <p:nvPr/>
      </p:nvGrpSpPr>
      <p:grpSpPr>
        <a:xfrm>
          <a:off x="0" y="0"/>
          <a:ext cx="0" cy="0"/>
          <a:chOff x="0" y="0"/>
          <a:chExt cx="0" cy="0"/>
        </a:xfrm>
      </p:grpSpPr>
      <p:pic>
        <p:nvPicPr>
          <p:cNvPr descr="image.png" id="102" name="Google Shape;102;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3" name="Google Shape;103;p14"/>
          <p:cNvPicPr preferRelativeResize="0"/>
          <p:nvPr/>
        </p:nvPicPr>
        <p:blipFill rotWithShape="1">
          <a:blip r:embed="rId4">
            <a:alphaModFix/>
          </a:blip>
          <a:srcRect b="0" l="0" r="0" t="0"/>
          <a:stretch/>
        </p:blipFill>
        <p:spPr>
          <a:xfrm>
            <a:off x="571500" y="1809750"/>
            <a:ext cx="5286375" cy="4276725"/>
          </a:xfrm>
          <a:prstGeom prst="rect">
            <a:avLst/>
          </a:prstGeom>
          <a:noFill/>
          <a:ln>
            <a:noFill/>
          </a:ln>
        </p:spPr>
      </p:pic>
      <p:pic>
        <p:nvPicPr>
          <p:cNvPr descr="image.png" id="104" name="Google Shape;104;p14"/>
          <p:cNvPicPr preferRelativeResize="0"/>
          <p:nvPr/>
        </p:nvPicPr>
        <p:blipFill rotWithShape="1">
          <a:blip r:embed="rId5">
            <a:alphaModFix/>
          </a:blip>
          <a:srcRect b="0" l="0" r="0" t="0"/>
          <a:stretch/>
        </p:blipFill>
        <p:spPr>
          <a:xfrm>
            <a:off x="6334125" y="1809750"/>
            <a:ext cx="5286375" cy="4276725"/>
          </a:xfrm>
          <a:prstGeom prst="rect">
            <a:avLst/>
          </a:prstGeom>
          <a:noFill/>
          <a:ln>
            <a:noFill/>
          </a:ln>
        </p:spPr>
      </p:pic>
      <p:pic>
        <p:nvPicPr>
          <p:cNvPr descr="image.png" id="105" name="Google Shape;105;p14"/>
          <p:cNvPicPr preferRelativeResize="0"/>
          <p:nvPr/>
        </p:nvPicPr>
        <p:blipFill rotWithShape="1">
          <a:blip r:embed="rId6">
            <a:alphaModFix/>
          </a:blip>
          <a:srcRect b="0" l="0" r="0" t="0"/>
          <a:stretch/>
        </p:blipFill>
        <p:spPr>
          <a:xfrm>
            <a:off x="6724650" y="2733675"/>
            <a:ext cx="4505325" cy="1110555"/>
          </a:xfrm>
          <a:prstGeom prst="rect">
            <a:avLst/>
          </a:prstGeom>
          <a:noFill/>
          <a:ln>
            <a:noFill/>
          </a:ln>
        </p:spPr>
      </p:pic>
      <p:pic>
        <p:nvPicPr>
          <p:cNvPr descr="image.png" id="106" name="Google Shape;106;p14"/>
          <p:cNvPicPr preferRelativeResize="0"/>
          <p:nvPr/>
        </p:nvPicPr>
        <p:blipFill rotWithShape="1">
          <a:blip r:embed="rId7">
            <a:alphaModFix/>
          </a:blip>
          <a:srcRect b="0" l="0" r="0" t="0"/>
          <a:stretch/>
        </p:blipFill>
        <p:spPr>
          <a:xfrm>
            <a:off x="6724650" y="4034730"/>
            <a:ext cx="4505325" cy="1110555"/>
          </a:xfrm>
          <a:prstGeom prst="rect">
            <a:avLst/>
          </a:prstGeom>
          <a:noFill/>
          <a:ln>
            <a:noFill/>
          </a:ln>
        </p:spPr>
      </p:pic>
      <p:sp>
        <p:nvSpPr>
          <p:cNvPr id="107" name="Google Shape;107;p14"/>
          <p:cNvSpPr txBox="1"/>
          <p:nvPr/>
        </p:nvSpPr>
        <p:spPr>
          <a:xfrm>
            <a:off x="962025" y="2200275"/>
            <a:ext cx="4730591"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EA5E9"/>
                </a:solidFill>
                <a:latin typeface="Merriweather"/>
                <a:ea typeface="Merriweather"/>
                <a:cs typeface="Merriweather"/>
                <a:sym typeface="Merriweather"/>
              </a:rPr>
              <a:t>Perguntas da Análise</a:t>
            </a:r>
            <a:endParaRPr/>
          </a:p>
        </p:txBody>
      </p:sp>
      <p:sp>
        <p:nvSpPr>
          <p:cNvPr id="108" name="Google Shape;108;p14"/>
          <p:cNvSpPr txBox="1"/>
          <p:nvPr/>
        </p:nvSpPr>
        <p:spPr>
          <a:xfrm>
            <a:off x="962025" y="2686050"/>
            <a:ext cx="45053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Comparar discursos de dois líderes políticos usando técnicas de NLP para responder:</a:t>
            </a:r>
            <a:endParaRPr/>
          </a:p>
        </p:txBody>
      </p:sp>
      <p:sp>
        <p:nvSpPr>
          <p:cNvPr id="109" name="Google Shape;109;p14"/>
          <p:cNvSpPr txBox="1"/>
          <p:nvPr/>
        </p:nvSpPr>
        <p:spPr>
          <a:xfrm>
            <a:off x="6724650" y="2200275"/>
            <a:ext cx="4730591"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EA5E9"/>
                </a:solidFill>
                <a:latin typeface="Merriweather"/>
                <a:ea typeface="Merriweather"/>
                <a:cs typeface="Merriweather"/>
                <a:sym typeface="Merriweather"/>
              </a:rPr>
              <a:t>Definições Fundamentais</a:t>
            </a:r>
            <a:endParaRPr/>
          </a:p>
        </p:txBody>
      </p:sp>
      <p:sp>
        <p:nvSpPr>
          <p:cNvPr id="110" name="Google Shape;110;p14"/>
          <p:cNvSpPr txBox="1"/>
          <p:nvPr/>
        </p:nvSpPr>
        <p:spPr>
          <a:xfrm>
            <a:off x="1095375" y="3438525"/>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Inter"/>
                <a:ea typeface="Inter"/>
                <a:cs typeface="Inter"/>
                <a:sym typeface="Inter"/>
              </a:rPr>
              <a:t>•</a:t>
            </a:r>
            <a:endParaRPr/>
          </a:p>
        </p:txBody>
      </p:sp>
      <p:sp>
        <p:nvSpPr>
          <p:cNvPr id="111" name="Google Shape;111;p14"/>
          <p:cNvSpPr txBox="1"/>
          <p:nvPr/>
        </p:nvSpPr>
        <p:spPr>
          <a:xfrm>
            <a:off x="1200150" y="3438525"/>
            <a:ext cx="4267200" cy="60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Os discursos ocupam regiões diferentes no espaço semântico?</a:t>
            </a:r>
            <a:endParaRPr/>
          </a:p>
        </p:txBody>
      </p:sp>
      <p:sp>
        <p:nvSpPr>
          <p:cNvPr id="112" name="Google Shape;112;p14"/>
          <p:cNvSpPr txBox="1"/>
          <p:nvPr/>
        </p:nvSpPr>
        <p:spPr>
          <a:xfrm>
            <a:off x="1095375" y="4191000"/>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Inter"/>
                <a:ea typeface="Inter"/>
                <a:cs typeface="Inter"/>
                <a:sym typeface="Inter"/>
              </a:rPr>
              <a:t>•</a:t>
            </a:r>
            <a:endParaRPr/>
          </a:p>
        </p:txBody>
      </p:sp>
      <p:sp>
        <p:nvSpPr>
          <p:cNvPr id="113" name="Google Shape;113;p14"/>
          <p:cNvSpPr txBox="1"/>
          <p:nvPr/>
        </p:nvSpPr>
        <p:spPr>
          <a:xfrm>
            <a:off x="1200150" y="4191000"/>
            <a:ext cx="4267200" cy="60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Um modelo consegue identificar automaticamente quem disse a frase?</a:t>
            </a:r>
            <a:endParaRPr/>
          </a:p>
        </p:txBody>
      </p:sp>
      <p:sp>
        <p:nvSpPr>
          <p:cNvPr id="114" name="Google Shape;114;p14"/>
          <p:cNvSpPr txBox="1"/>
          <p:nvPr/>
        </p:nvSpPr>
        <p:spPr>
          <a:xfrm>
            <a:off x="1095375" y="4943475"/>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Inter"/>
                <a:ea typeface="Inter"/>
                <a:cs typeface="Inter"/>
                <a:sym typeface="Inter"/>
              </a:rPr>
              <a:t>•</a:t>
            </a:r>
            <a:endParaRPr/>
          </a:p>
        </p:txBody>
      </p:sp>
      <p:sp>
        <p:nvSpPr>
          <p:cNvPr id="115" name="Google Shape;115;p14"/>
          <p:cNvSpPr txBox="1"/>
          <p:nvPr/>
        </p:nvSpPr>
        <p:spPr>
          <a:xfrm>
            <a:off x="1200150" y="4943475"/>
            <a:ext cx="4267200" cy="60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Existem diferenças temáticas detectáveis matematicamente?</a:t>
            </a:r>
            <a:endParaRPr/>
          </a:p>
        </p:txBody>
      </p:sp>
      <p:sp>
        <p:nvSpPr>
          <p:cNvPr id="116" name="Google Shape;116;p14"/>
          <p:cNvSpPr txBox="1"/>
          <p:nvPr/>
        </p:nvSpPr>
        <p:spPr>
          <a:xfrm>
            <a:off x="6953250" y="2876550"/>
            <a:ext cx="4086225"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8FAFC"/>
                </a:solidFill>
                <a:latin typeface="Inter"/>
                <a:ea typeface="Inter"/>
                <a:cs typeface="Inter"/>
                <a:sym typeface="Inter"/>
              </a:rPr>
              <a:t>NLP (Natural Language Processing)</a:t>
            </a:r>
            <a:endParaRPr/>
          </a:p>
        </p:txBody>
      </p:sp>
      <p:sp>
        <p:nvSpPr>
          <p:cNvPr id="117" name="Google Shape;117;p14"/>
          <p:cNvSpPr txBox="1"/>
          <p:nvPr/>
        </p:nvSpPr>
        <p:spPr>
          <a:xfrm>
            <a:off x="6953250" y="3152775"/>
            <a:ext cx="40862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94A3B8"/>
                </a:solidFill>
                <a:latin typeface="Inter"/>
                <a:ea typeface="Inter"/>
                <a:cs typeface="Inter"/>
                <a:sym typeface="Inter"/>
              </a:rPr>
              <a:t>Processamento computacional da linguagem humana.</a:t>
            </a:r>
            <a:endParaRPr/>
          </a:p>
        </p:txBody>
      </p:sp>
      <p:sp>
        <p:nvSpPr>
          <p:cNvPr id="118" name="Google Shape;118;p14"/>
          <p:cNvSpPr txBox="1"/>
          <p:nvPr/>
        </p:nvSpPr>
        <p:spPr>
          <a:xfrm>
            <a:off x="6953250" y="4177605"/>
            <a:ext cx="4086225"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8FAFC"/>
                </a:solidFill>
                <a:latin typeface="Inter"/>
                <a:ea typeface="Inter"/>
                <a:cs typeface="Inter"/>
                <a:sym typeface="Inter"/>
              </a:rPr>
              <a:t>Espaço Semântico</a:t>
            </a:r>
            <a:endParaRPr/>
          </a:p>
        </p:txBody>
      </p:sp>
      <p:sp>
        <p:nvSpPr>
          <p:cNvPr id="119" name="Google Shape;119;p14"/>
          <p:cNvSpPr txBox="1"/>
          <p:nvPr/>
        </p:nvSpPr>
        <p:spPr>
          <a:xfrm>
            <a:off x="6953250" y="4453830"/>
            <a:ext cx="40862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94A3B8"/>
                </a:solidFill>
                <a:latin typeface="Inter"/>
                <a:ea typeface="Inter"/>
                <a:cs typeface="Inter"/>
                <a:sym typeface="Inter"/>
              </a:rPr>
              <a:t>Representação matemática estruturada do significado de textos.</a:t>
            </a:r>
            <a:endParaRPr/>
          </a:p>
        </p:txBody>
      </p:sp>
      <p:sp>
        <p:nvSpPr>
          <p:cNvPr id="120" name="Google Shape;120;p14"/>
          <p:cNvSpPr txBox="1"/>
          <p:nvPr/>
        </p:nvSpPr>
        <p:spPr>
          <a:xfrm>
            <a:off x="571500" y="57150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Merriweather"/>
                <a:ea typeface="Merriweather"/>
                <a:cs typeface="Merriweather"/>
                <a:sym typeface="Merriweather"/>
              </a:rPr>
              <a:t>Objetivo do Projeto</a:t>
            </a:r>
            <a:endParaRPr/>
          </a:p>
        </p:txBody>
      </p:sp>
      <p:sp>
        <p:nvSpPr>
          <p:cNvPr id="121" name="Google Shape;121;p14"/>
          <p:cNvSpPr/>
          <p:nvPr/>
        </p:nvSpPr>
        <p:spPr>
          <a:xfrm>
            <a:off x="571500" y="1209675"/>
            <a:ext cx="11049000" cy="19050"/>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25" name="Shape 125"/>
        <p:cNvGrpSpPr/>
        <p:nvPr/>
      </p:nvGrpSpPr>
      <p:grpSpPr>
        <a:xfrm>
          <a:off x="0" y="0"/>
          <a:ext cx="0" cy="0"/>
          <a:chOff x="0" y="0"/>
          <a:chExt cx="0" cy="0"/>
        </a:xfrm>
      </p:grpSpPr>
      <p:pic>
        <p:nvPicPr>
          <p:cNvPr descr="image.png" id="126" name="Google Shape;126;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7" name="Google Shape;127;p15"/>
          <p:cNvPicPr preferRelativeResize="0"/>
          <p:nvPr/>
        </p:nvPicPr>
        <p:blipFill rotWithShape="1">
          <a:blip r:embed="rId4">
            <a:alphaModFix/>
          </a:blip>
          <a:srcRect b="0" l="0" r="0" t="0"/>
          <a:stretch/>
        </p:blipFill>
        <p:spPr>
          <a:xfrm>
            <a:off x="571500" y="1357312"/>
            <a:ext cx="3429000" cy="5181600"/>
          </a:xfrm>
          <a:prstGeom prst="rect">
            <a:avLst/>
          </a:prstGeom>
          <a:noFill/>
          <a:ln>
            <a:noFill/>
          </a:ln>
        </p:spPr>
      </p:pic>
      <p:pic>
        <p:nvPicPr>
          <p:cNvPr descr="image.png" id="128" name="Google Shape;128;p15"/>
          <p:cNvPicPr preferRelativeResize="0"/>
          <p:nvPr/>
        </p:nvPicPr>
        <p:blipFill rotWithShape="1">
          <a:blip r:embed="rId5">
            <a:alphaModFix/>
          </a:blip>
          <a:srcRect b="0" l="0" r="0" t="0"/>
          <a:stretch/>
        </p:blipFill>
        <p:spPr>
          <a:xfrm>
            <a:off x="4381500" y="1357312"/>
            <a:ext cx="3429000" cy="5181600"/>
          </a:xfrm>
          <a:prstGeom prst="rect">
            <a:avLst/>
          </a:prstGeom>
          <a:noFill/>
          <a:ln>
            <a:noFill/>
          </a:ln>
        </p:spPr>
      </p:pic>
      <p:pic>
        <p:nvPicPr>
          <p:cNvPr descr="image.png" id="129" name="Google Shape;129;p15"/>
          <p:cNvPicPr preferRelativeResize="0"/>
          <p:nvPr/>
        </p:nvPicPr>
        <p:blipFill rotWithShape="1">
          <a:blip r:embed="rId6">
            <a:alphaModFix/>
          </a:blip>
          <a:srcRect b="0" l="0" r="0" t="0"/>
          <a:stretch/>
        </p:blipFill>
        <p:spPr>
          <a:xfrm>
            <a:off x="8191500" y="1357312"/>
            <a:ext cx="3429000" cy="5181600"/>
          </a:xfrm>
          <a:prstGeom prst="rect">
            <a:avLst/>
          </a:prstGeom>
          <a:noFill/>
          <a:ln>
            <a:noFill/>
          </a:ln>
        </p:spPr>
      </p:pic>
      <p:sp>
        <p:nvSpPr>
          <p:cNvPr id="130" name="Google Shape;130;p15"/>
          <p:cNvSpPr/>
          <p:nvPr/>
        </p:nvSpPr>
        <p:spPr>
          <a:xfrm>
            <a:off x="581025" y="3929062"/>
            <a:ext cx="3409950" cy="3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5"/>
          <p:cNvSpPr txBox="1"/>
          <p:nvPr/>
        </p:nvSpPr>
        <p:spPr>
          <a:xfrm>
            <a:off x="866775" y="2471737"/>
            <a:ext cx="284035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EA5E9"/>
                </a:solidFill>
                <a:latin typeface="Merriweather"/>
                <a:ea typeface="Merriweather"/>
                <a:cs typeface="Merriweather"/>
                <a:sym typeface="Merriweather"/>
              </a:rPr>
              <a:t>Estrutura do Dataset</a:t>
            </a:r>
            <a:endParaRPr/>
          </a:p>
        </p:txBody>
      </p:sp>
      <p:sp>
        <p:nvSpPr>
          <p:cNvPr id="132" name="Google Shape;132;p15"/>
          <p:cNvSpPr txBox="1"/>
          <p:nvPr/>
        </p:nvSpPr>
        <p:spPr>
          <a:xfrm>
            <a:off x="866775" y="2957512"/>
            <a:ext cx="28384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O conjunto de dados usado na análise consiste em:</a:t>
            </a:r>
            <a:endParaRPr/>
          </a:p>
        </p:txBody>
      </p:sp>
      <p:sp>
        <p:nvSpPr>
          <p:cNvPr id="133" name="Google Shape;133;p15"/>
          <p:cNvSpPr/>
          <p:nvPr/>
        </p:nvSpPr>
        <p:spPr>
          <a:xfrm>
            <a:off x="4391025" y="3929062"/>
            <a:ext cx="3409950" cy="3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15"/>
          <p:cNvSpPr txBox="1"/>
          <p:nvPr/>
        </p:nvSpPr>
        <p:spPr>
          <a:xfrm>
            <a:off x="4676775" y="2471737"/>
            <a:ext cx="2710338"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EA5E9"/>
                </a:solidFill>
                <a:latin typeface="Merriweather"/>
                <a:ea typeface="Merriweather"/>
                <a:cs typeface="Merriweather"/>
                <a:sym typeface="Merriweather"/>
              </a:rPr>
              <a:t>Pré-processamento</a:t>
            </a:r>
            <a:endParaRPr/>
          </a:p>
        </p:txBody>
      </p:sp>
      <p:sp>
        <p:nvSpPr>
          <p:cNvPr id="135" name="Google Shape;135;p15"/>
          <p:cNvSpPr txBox="1"/>
          <p:nvPr/>
        </p:nvSpPr>
        <p:spPr>
          <a:xfrm>
            <a:off x="4676775" y="2957512"/>
            <a:ext cx="28384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Antes da análise, o texto passou por um pipeline rigoroso de limpeza:</a:t>
            </a:r>
            <a:endParaRPr/>
          </a:p>
        </p:txBody>
      </p:sp>
      <p:sp>
        <p:nvSpPr>
          <p:cNvPr id="136" name="Google Shape;136;p15"/>
          <p:cNvSpPr/>
          <p:nvPr/>
        </p:nvSpPr>
        <p:spPr>
          <a:xfrm>
            <a:off x="8201025" y="3929062"/>
            <a:ext cx="3409950" cy="3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15"/>
          <p:cNvSpPr txBox="1"/>
          <p:nvPr/>
        </p:nvSpPr>
        <p:spPr>
          <a:xfrm>
            <a:off x="8486775" y="2471737"/>
            <a:ext cx="2290286"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EA5E9"/>
                </a:solidFill>
                <a:latin typeface="Merriweather"/>
                <a:ea typeface="Merriweather"/>
                <a:cs typeface="Merriweather"/>
                <a:sym typeface="Merriweather"/>
              </a:rPr>
              <a:t>Exemplo Prático</a:t>
            </a:r>
            <a:endParaRPr/>
          </a:p>
        </p:txBody>
      </p:sp>
      <p:sp>
        <p:nvSpPr>
          <p:cNvPr id="138" name="Google Shape;138;p15"/>
          <p:cNvSpPr txBox="1"/>
          <p:nvPr/>
        </p:nvSpPr>
        <p:spPr>
          <a:xfrm>
            <a:off x="8486775" y="2957512"/>
            <a:ext cx="28384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Amostra de frase do Obama retirada do dataset analisado:</a:t>
            </a:r>
            <a:endParaRPr/>
          </a:p>
        </p:txBody>
      </p:sp>
      <p:sp>
        <p:nvSpPr>
          <p:cNvPr id="139" name="Google Shape;139;p15"/>
          <p:cNvSpPr txBox="1"/>
          <p:nvPr/>
        </p:nvSpPr>
        <p:spPr>
          <a:xfrm>
            <a:off x="8486775" y="3900487"/>
            <a:ext cx="283845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650" u="none" cap="none" strike="noStrike">
                <a:solidFill>
                  <a:srgbClr val="F8FAFC"/>
                </a:solidFill>
                <a:latin typeface="Inter"/>
                <a:ea typeface="Inter"/>
                <a:cs typeface="Inter"/>
                <a:sym typeface="Inter"/>
              </a:rPr>
              <a:t>"We must ensure a fair and just immigration system."</a:t>
            </a:r>
            <a:endParaRPr/>
          </a:p>
        </p:txBody>
      </p:sp>
      <p:pic>
        <p:nvPicPr>
          <p:cNvPr descr="image.png" id="140" name="Google Shape;140;p15"/>
          <p:cNvPicPr preferRelativeResize="0"/>
          <p:nvPr/>
        </p:nvPicPr>
        <p:blipFill rotWithShape="1">
          <a:blip r:embed="rId7">
            <a:alphaModFix/>
          </a:blip>
          <a:srcRect b="0" l="0" r="0" t="0"/>
          <a:stretch/>
        </p:blipFill>
        <p:spPr>
          <a:xfrm>
            <a:off x="866775" y="1785937"/>
            <a:ext cx="352425" cy="400050"/>
          </a:xfrm>
          <a:prstGeom prst="rect">
            <a:avLst/>
          </a:prstGeom>
          <a:noFill/>
          <a:ln>
            <a:noFill/>
          </a:ln>
        </p:spPr>
      </p:pic>
      <p:sp>
        <p:nvSpPr>
          <p:cNvPr id="141" name="Google Shape;141;p15"/>
          <p:cNvSpPr txBox="1"/>
          <p:nvPr/>
        </p:nvSpPr>
        <p:spPr>
          <a:xfrm>
            <a:off x="1143000" y="386238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Inter"/>
                <a:ea typeface="Inter"/>
                <a:cs typeface="Inter"/>
                <a:sym typeface="Inter"/>
              </a:rPr>
              <a:t>•</a:t>
            </a:r>
            <a:endParaRPr/>
          </a:p>
        </p:txBody>
      </p:sp>
      <p:sp>
        <p:nvSpPr>
          <p:cNvPr id="142" name="Google Shape;142;p15"/>
          <p:cNvSpPr txBox="1"/>
          <p:nvPr/>
        </p:nvSpPr>
        <p:spPr>
          <a:xfrm>
            <a:off x="1247775" y="3862387"/>
            <a:ext cx="2457450" cy="60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500 frases famosas do Obama</a:t>
            </a:r>
            <a:endParaRPr/>
          </a:p>
        </p:txBody>
      </p:sp>
      <p:sp>
        <p:nvSpPr>
          <p:cNvPr id="143" name="Google Shape;143;p15"/>
          <p:cNvSpPr txBox="1"/>
          <p:nvPr/>
        </p:nvSpPr>
        <p:spPr>
          <a:xfrm>
            <a:off x="1143000" y="447198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Inter"/>
                <a:ea typeface="Inter"/>
                <a:cs typeface="Inter"/>
                <a:sym typeface="Inter"/>
              </a:rPr>
              <a:t>•</a:t>
            </a:r>
            <a:endParaRPr/>
          </a:p>
        </p:txBody>
      </p:sp>
      <p:sp>
        <p:nvSpPr>
          <p:cNvPr id="144" name="Google Shape;144;p15"/>
          <p:cNvSpPr txBox="1"/>
          <p:nvPr/>
        </p:nvSpPr>
        <p:spPr>
          <a:xfrm>
            <a:off x="1247775" y="4471987"/>
            <a:ext cx="2457450" cy="3048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500 frases do Trump</a:t>
            </a:r>
            <a:endParaRPr/>
          </a:p>
        </p:txBody>
      </p:sp>
      <p:sp>
        <p:nvSpPr>
          <p:cNvPr id="145" name="Google Shape;145;p15"/>
          <p:cNvSpPr txBox="1"/>
          <p:nvPr/>
        </p:nvSpPr>
        <p:spPr>
          <a:xfrm>
            <a:off x="1143000" y="477678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Inter"/>
                <a:ea typeface="Inter"/>
                <a:cs typeface="Inter"/>
                <a:sym typeface="Inter"/>
              </a:rPr>
              <a:t>•</a:t>
            </a:r>
            <a:endParaRPr/>
          </a:p>
        </p:txBody>
      </p:sp>
      <p:sp>
        <p:nvSpPr>
          <p:cNvPr id="146" name="Google Shape;146;p15"/>
          <p:cNvSpPr txBox="1"/>
          <p:nvPr/>
        </p:nvSpPr>
        <p:spPr>
          <a:xfrm>
            <a:off x="1247775" y="4776787"/>
            <a:ext cx="2457450" cy="60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Cada frase foi analisada individualmente</a:t>
            </a:r>
            <a:endParaRPr/>
          </a:p>
        </p:txBody>
      </p:sp>
      <p:pic>
        <p:nvPicPr>
          <p:cNvPr descr="image.png" id="147" name="Google Shape;147;p15"/>
          <p:cNvPicPr preferRelativeResize="0"/>
          <p:nvPr/>
        </p:nvPicPr>
        <p:blipFill rotWithShape="1">
          <a:blip r:embed="rId8">
            <a:alphaModFix/>
          </a:blip>
          <a:srcRect b="0" l="0" r="0" t="0"/>
          <a:stretch/>
        </p:blipFill>
        <p:spPr>
          <a:xfrm>
            <a:off x="4676775" y="1785937"/>
            <a:ext cx="504825" cy="400050"/>
          </a:xfrm>
          <a:prstGeom prst="rect">
            <a:avLst/>
          </a:prstGeom>
          <a:noFill/>
          <a:ln>
            <a:noFill/>
          </a:ln>
        </p:spPr>
      </p:pic>
      <p:sp>
        <p:nvSpPr>
          <p:cNvPr id="148" name="Google Shape;148;p15"/>
          <p:cNvSpPr txBox="1"/>
          <p:nvPr/>
        </p:nvSpPr>
        <p:spPr>
          <a:xfrm>
            <a:off x="4953000" y="416718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Inter"/>
                <a:ea typeface="Inter"/>
                <a:cs typeface="Inter"/>
                <a:sym typeface="Inter"/>
              </a:rPr>
              <a:t>•</a:t>
            </a:r>
            <a:endParaRPr/>
          </a:p>
        </p:txBody>
      </p:sp>
      <p:sp>
        <p:nvSpPr>
          <p:cNvPr id="149" name="Google Shape;149;p15"/>
          <p:cNvSpPr txBox="1"/>
          <p:nvPr/>
        </p:nvSpPr>
        <p:spPr>
          <a:xfrm>
            <a:off x="5057775" y="4167187"/>
            <a:ext cx="2457450" cy="3048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Limpeza geral do texto</a:t>
            </a:r>
            <a:endParaRPr/>
          </a:p>
        </p:txBody>
      </p:sp>
      <p:sp>
        <p:nvSpPr>
          <p:cNvPr id="150" name="Google Shape;150;p15"/>
          <p:cNvSpPr txBox="1"/>
          <p:nvPr/>
        </p:nvSpPr>
        <p:spPr>
          <a:xfrm>
            <a:off x="4953000" y="447198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Inter"/>
                <a:ea typeface="Inter"/>
                <a:cs typeface="Inter"/>
                <a:sym typeface="Inter"/>
              </a:rPr>
              <a:t>•</a:t>
            </a:r>
            <a:endParaRPr/>
          </a:p>
        </p:txBody>
      </p:sp>
      <p:sp>
        <p:nvSpPr>
          <p:cNvPr id="151" name="Google Shape;151;p15"/>
          <p:cNvSpPr txBox="1"/>
          <p:nvPr/>
        </p:nvSpPr>
        <p:spPr>
          <a:xfrm>
            <a:off x="5057775" y="4471987"/>
            <a:ext cx="2457450" cy="9144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Remoção de espaços extras e caracteres inválidos</a:t>
            </a:r>
            <a:endParaRPr/>
          </a:p>
        </p:txBody>
      </p:sp>
      <p:sp>
        <p:nvSpPr>
          <p:cNvPr id="152" name="Google Shape;152;p15"/>
          <p:cNvSpPr txBox="1"/>
          <p:nvPr/>
        </p:nvSpPr>
        <p:spPr>
          <a:xfrm>
            <a:off x="4953000" y="538638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Inter"/>
                <a:ea typeface="Inter"/>
                <a:cs typeface="Inter"/>
                <a:sym typeface="Inter"/>
              </a:rPr>
              <a:t>•</a:t>
            </a:r>
            <a:endParaRPr/>
          </a:p>
        </p:txBody>
      </p:sp>
      <p:sp>
        <p:nvSpPr>
          <p:cNvPr id="153" name="Google Shape;153;p15"/>
          <p:cNvSpPr txBox="1"/>
          <p:nvPr/>
        </p:nvSpPr>
        <p:spPr>
          <a:xfrm>
            <a:off x="5057775" y="5386387"/>
            <a:ext cx="2457450" cy="60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Padronização para a modelagem</a:t>
            </a:r>
            <a:endParaRPr/>
          </a:p>
        </p:txBody>
      </p:sp>
      <p:pic>
        <p:nvPicPr>
          <p:cNvPr descr="image.png" id="154" name="Google Shape;154;p15"/>
          <p:cNvPicPr preferRelativeResize="0"/>
          <p:nvPr/>
        </p:nvPicPr>
        <p:blipFill rotWithShape="1">
          <a:blip r:embed="rId9">
            <a:alphaModFix/>
          </a:blip>
          <a:srcRect b="0" l="0" r="0" t="0"/>
          <a:stretch/>
        </p:blipFill>
        <p:spPr>
          <a:xfrm>
            <a:off x="8486775" y="1785937"/>
            <a:ext cx="352425" cy="400050"/>
          </a:xfrm>
          <a:prstGeom prst="rect">
            <a:avLst/>
          </a:prstGeom>
          <a:noFill/>
          <a:ln>
            <a:noFill/>
          </a:ln>
        </p:spPr>
      </p:pic>
      <p:sp>
        <p:nvSpPr>
          <p:cNvPr id="155" name="Google Shape;155;p15"/>
          <p:cNvSpPr txBox="1"/>
          <p:nvPr/>
        </p:nvSpPr>
        <p:spPr>
          <a:xfrm>
            <a:off x="571500" y="319087"/>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Merriweather"/>
                <a:ea typeface="Merriweather"/>
                <a:cs typeface="Merriweather"/>
                <a:sym typeface="Merriweather"/>
              </a:rPr>
              <a:t>Base de Dados (Dataset)</a:t>
            </a:r>
            <a:endParaRPr/>
          </a:p>
        </p:txBody>
      </p:sp>
      <p:sp>
        <p:nvSpPr>
          <p:cNvPr id="156" name="Google Shape;156;p15"/>
          <p:cNvSpPr/>
          <p:nvPr/>
        </p:nvSpPr>
        <p:spPr>
          <a:xfrm>
            <a:off x="571500" y="957262"/>
            <a:ext cx="11049000" cy="19050"/>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60" name="Shape 160"/>
        <p:cNvGrpSpPr/>
        <p:nvPr/>
      </p:nvGrpSpPr>
      <p:grpSpPr>
        <a:xfrm>
          <a:off x="0" y="0"/>
          <a:ext cx="0" cy="0"/>
          <a:chOff x="0" y="0"/>
          <a:chExt cx="0" cy="0"/>
        </a:xfrm>
      </p:grpSpPr>
      <p:pic>
        <p:nvPicPr>
          <p:cNvPr descr="image.png" id="161" name="Google Shape;161;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2" name="Google Shape;162;p16"/>
          <p:cNvPicPr preferRelativeResize="0"/>
          <p:nvPr/>
        </p:nvPicPr>
        <p:blipFill rotWithShape="1">
          <a:blip r:embed="rId4">
            <a:alphaModFix/>
          </a:blip>
          <a:srcRect b="0" l="0" r="0" t="0"/>
          <a:stretch/>
        </p:blipFill>
        <p:spPr>
          <a:xfrm>
            <a:off x="571500" y="4156769"/>
            <a:ext cx="5286375" cy="1110555"/>
          </a:xfrm>
          <a:prstGeom prst="rect">
            <a:avLst/>
          </a:prstGeom>
          <a:noFill/>
          <a:ln>
            <a:noFill/>
          </a:ln>
        </p:spPr>
      </p:pic>
      <p:pic>
        <p:nvPicPr>
          <p:cNvPr descr="image.png" id="163" name="Google Shape;163;p16"/>
          <p:cNvPicPr preferRelativeResize="0"/>
          <p:nvPr/>
        </p:nvPicPr>
        <p:blipFill rotWithShape="1">
          <a:blip r:embed="rId5">
            <a:alphaModFix/>
          </a:blip>
          <a:srcRect b="0" l="0" r="0" t="0"/>
          <a:stretch/>
        </p:blipFill>
        <p:spPr>
          <a:xfrm>
            <a:off x="571500" y="5457825"/>
            <a:ext cx="5286375" cy="1110555"/>
          </a:xfrm>
          <a:prstGeom prst="rect">
            <a:avLst/>
          </a:prstGeom>
          <a:noFill/>
          <a:ln>
            <a:noFill/>
          </a:ln>
        </p:spPr>
      </p:pic>
      <p:sp>
        <p:nvSpPr>
          <p:cNvPr id="164" name="Google Shape;164;p16"/>
          <p:cNvSpPr txBox="1"/>
          <p:nvPr/>
        </p:nvSpPr>
        <p:spPr>
          <a:xfrm>
            <a:off x="571500" y="1327844"/>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Cada frase do dataset foi convertida em um </a:t>
            </a:r>
            <a:r>
              <a:rPr b="1" i="0" lang="en-US" sz="1500" u="none" cap="none" strike="noStrike">
                <a:solidFill>
                  <a:srgbClr val="CBD5E1"/>
                </a:solidFill>
                <a:latin typeface="Inter"/>
                <a:ea typeface="Inter"/>
                <a:cs typeface="Inter"/>
                <a:sym typeface="Inter"/>
              </a:rPr>
              <a:t>vetor numérico</a:t>
            </a:r>
            <a:r>
              <a:rPr b="0" i="0" lang="en-US" sz="1500" u="none" cap="none" strike="noStrike">
                <a:solidFill>
                  <a:srgbClr val="CBD5E1"/>
                </a:solidFill>
                <a:latin typeface="Inter"/>
                <a:ea typeface="Inter"/>
                <a:cs typeface="Inter"/>
                <a:sym typeface="Inter"/>
              </a:rPr>
              <a:t> usando redes neurais.</a:t>
            </a:r>
            <a:endParaRPr/>
          </a:p>
        </p:txBody>
      </p:sp>
      <p:sp>
        <p:nvSpPr>
          <p:cNvPr id="165" name="Google Shape;165;p16"/>
          <p:cNvSpPr txBox="1"/>
          <p:nvPr/>
        </p:nvSpPr>
        <p:spPr>
          <a:xfrm>
            <a:off x="571500" y="2270819"/>
            <a:ext cx="5550693"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EA5E9"/>
                </a:solidFill>
                <a:latin typeface="Merriweather"/>
                <a:ea typeface="Merriweather"/>
                <a:cs typeface="Merriweather"/>
                <a:sym typeface="Merriweather"/>
              </a:rPr>
              <a:t>Modelo Utilizado: all-MiniLM-L6-v2</a:t>
            </a:r>
            <a:endParaRPr/>
          </a:p>
        </p:txBody>
      </p:sp>
      <p:sp>
        <p:nvSpPr>
          <p:cNvPr id="166" name="Google Shape;166;p16"/>
          <p:cNvSpPr txBox="1"/>
          <p:nvPr/>
        </p:nvSpPr>
        <p:spPr>
          <a:xfrm>
            <a:off x="571500" y="2756594"/>
            <a:ext cx="52863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Esse modelo representa frases com significados semelhantes em posições próximas no espaço vetorial, capturando nuances de contexto.</a:t>
            </a:r>
            <a:endParaRPr/>
          </a:p>
        </p:txBody>
      </p:sp>
      <p:sp>
        <p:nvSpPr>
          <p:cNvPr id="167" name="Google Shape;167;p16"/>
          <p:cNvSpPr/>
          <p:nvPr/>
        </p:nvSpPr>
        <p:spPr>
          <a:xfrm>
            <a:off x="571500" y="3909119"/>
            <a:ext cx="5286375"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16"/>
          <p:cNvSpPr txBox="1"/>
          <p:nvPr/>
        </p:nvSpPr>
        <p:spPr>
          <a:xfrm>
            <a:off x="800100" y="4299644"/>
            <a:ext cx="4867275"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8FAFC"/>
                </a:solidFill>
                <a:latin typeface="Inter"/>
                <a:ea typeface="Inter"/>
                <a:cs typeface="Inter"/>
                <a:sym typeface="Inter"/>
              </a:rPr>
              <a:t>Embedding</a:t>
            </a:r>
            <a:endParaRPr/>
          </a:p>
        </p:txBody>
      </p:sp>
      <p:sp>
        <p:nvSpPr>
          <p:cNvPr id="169" name="Google Shape;169;p16"/>
          <p:cNvSpPr txBox="1"/>
          <p:nvPr/>
        </p:nvSpPr>
        <p:spPr>
          <a:xfrm>
            <a:off x="800100" y="4575869"/>
            <a:ext cx="486727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94A3B8"/>
                </a:solidFill>
                <a:latin typeface="Inter"/>
                <a:ea typeface="Inter"/>
                <a:cs typeface="Inter"/>
                <a:sym typeface="Inter"/>
              </a:rPr>
              <a:t>Representação numérica do significado de um texto num espaço multidimensional.</a:t>
            </a:r>
            <a:endParaRPr/>
          </a:p>
        </p:txBody>
      </p:sp>
      <p:sp>
        <p:nvSpPr>
          <p:cNvPr id="170" name="Google Shape;170;p16"/>
          <p:cNvSpPr txBox="1"/>
          <p:nvPr/>
        </p:nvSpPr>
        <p:spPr>
          <a:xfrm>
            <a:off x="800100" y="5600700"/>
            <a:ext cx="4867275"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8FAFC"/>
                </a:solidFill>
                <a:latin typeface="Inter"/>
                <a:ea typeface="Inter"/>
                <a:cs typeface="Inter"/>
                <a:sym typeface="Inter"/>
              </a:rPr>
              <a:t>Similaridade Cosseno</a:t>
            </a:r>
            <a:endParaRPr/>
          </a:p>
        </p:txBody>
      </p:sp>
      <p:sp>
        <p:nvSpPr>
          <p:cNvPr id="171" name="Google Shape;171;p16"/>
          <p:cNvSpPr txBox="1"/>
          <p:nvPr/>
        </p:nvSpPr>
        <p:spPr>
          <a:xfrm>
            <a:off x="800100" y="5876925"/>
            <a:ext cx="486727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94A3B8"/>
                </a:solidFill>
                <a:latin typeface="Inter"/>
                <a:ea typeface="Inter"/>
                <a:cs typeface="Inter"/>
                <a:sym typeface="Inter"/>
              </a:rPr>
              <a:t>Mede o quanto dois vetores apontam para a mesma direção geométrica.</a:t>
            </a:r>
            <a:endParaRPr/>
          </a:p>
        </p:txBody>
      </p:sp>
      <p:sp>
        <p:nvSpPr>
          <p:cNvPr id="172" name="Google Shape;172;p16"/>
          <p:cNvSpPr txBox="1"/>
          <p:nvPr/>
        </p:nvSpPr>
        <p:spPr>
          <a:xfrm>
            <a:off x="571500" y="289619"/>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Merriweather"/>
                <a:ea typeface="Merriweather"/>
                <a:cs typeface="Merriweather"/>
                <a:sym typeface="Merriweather"/>
              </a:rPr>
              <a:t>Embeddings Semânticos</a:t>
            </a:r>
            <a:endParaRPr/>
          </a:p>
        </p:txBody>
      </p:sp>
      <p:sp>
        <p:nvSpPr>
          <p:cNvPr id="173" name="Google Shape;173;p16"/>
          <p:cNvSpPr/>
          <p:nvPr/>
        </p:nvSpPr>
        <p:spPr>
          <a:xfrm>
            <a:off x="571500" y="927794"/>
            <a:ext cx="11049000" cy="19050"/>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74" name="Google Shape;174;p16"/>
          <p:cNvPicPr preferRelativeResize="0"/>
          <p:nvPr/>
        </p:nvPicPr>
        <p:blipFill>
          <a:blip r:embed="rId6">
            <a:alphaModFix/>
          </a:blip>
          <a:stretch>
            <a:fillRect/>
          </a:stretch>
        </p:blipFill>
        <p:spPr>
          <a:xfrm>
            <a:off x="5857875" y="1163988"/>
            <a:ext cx="6211788" cy="4530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78" name="Shape 178"/>
        <p:cNvGrpSpPr/>
        <p:nvPr/>
      </p:nvGrpSpPr>
      <p:grpSpPr>
        <a:xfrm>
          <a:off x="0" y="0"/>
          <a:ext cx="0" cy="0"/>
          <a:chOff x="0" y="0"/>
          <a:chExt cx="0" cy="0"/>
        </a:xfrm>
      </p:grpSpPr>
      <p:pic>
        <p:nvPicPr>
          <p:cNvPr descr="image.png" id="179" name="Google Shape;179;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0" name="Google Shape;180;p17"/>
          <p:cNvPicPr preferRelativeResize="0"/>
          <p:nvPr/>
        </p:nvPicPr>
        <p:blipFill rotWithShape="1">
          <a:blip r:embed="rId4">
            <a:alphaModFix/>
          </a:blip>
          <a:srcRect b="0" l="0" r="0" t="0"/>
          <a:stretch/>
        </p:blipFill>
        <p:spPr>
          <a:xfrm>
            <a:off x="571500" y="3666232"/>
            <a:ext cx="5286375" cy="1110555"/>
          </a:xfrm>
          <a:prstGeom prst="rect">
            <a:avLst/>
          </a:prstGeom>
          <a:noFill/>
          <a:ln>
            <a:noFill/>
          </a:ln>
        </p:spPr>
      </p:pic>
      <p:pic>
        <p:nvPicPr>
          <p:cNvPr descr="image.png" id="181" name="Google Shape;181;p17"/>
          <p:cNvPicPr preferRelativeResize="0"/>
          <p:nvPr/>
        </p:nvPicPr>
        <p:blipFill rotWithShape="1">
          <a:blip r:embed="rId5">
            <a:alphaModFix/>
          </a:blip>
          <a:srcRect b="0" l="0" r="0" t="0"/>
          <a:stretch/>
        </p:blipFill>
        <p:spPr>
          <a:xfrm>
            <a:off x="571500" y="4967287"/>
            <a:ext cx="5286375" cy="1110555"/>
          </a:xfrm>
          <a:prstGeom prst="rect">
            <a:avLst/>
          </a:prstGeom>
          <a:noFill/>
          <a:ln>
            <a:noFill/>
          </a:ln>
        </p:spPr>
      </p:pic>
      <p:pic>
        <p:nvPicPr>
          <p:cNvPr descr="image.png" id="182" name="Google Shape;182;p17"/>
          <p:cNvPicPr preferRelativeResize="0"/>
          <p:nvPr/>
        </p:nvPicPr>
        <p:blipFill rotWithShape="1">
          <a:blip r:embed="rId6">
            <a:alphaModFix/>
          </a:blip>
          <a:srcRect b="0" l="0" r="0" t="0"/>
          <a:stretch/>
        </p:blipFill>
        <p:spPr>
          <a:xfrm>
            <a:off x="6334125" y="1818382"/>
            <a:ext cx="5286375" cy="3810000"/>
          </a:xfrm>
          <a:prstGeom prst="rect">
            <a:avLst/>
          </a:prstGeom>
          <a:noFill/>
          <a:ln>
            <a:noFill/>
          </a:ln>
        </p:spPr>
      </p:pic>
      <p:sp>
        <p:nvSpPr>
          <p:cNvPr id="183" name="Google Shape;183;p17"/>
          <p:cNvSpPr txBox="1"/>
          <p:nvPr/>
        </p:nvSpPr>
        <p:spPr>
          <a:xfrm>
            <a:off x="571500" y="1818382"/>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Como os embeddings gerados possuem </a:t>
            </a:r>
            <a:r>
              <a:rPr b="1" i="0" lang="en-US" sz="1500" u="none" cap="none" strike="noStrike">
                <a:solidFill>
                  <a:srgbClr val="CBD5E1"/>
                </a:solidFill>
                <a:latin typeface="Inter"/>
                <a:ea typeface="Inter"/>
                <a:cs typeface="Inter"/>
                <a:sym typeface="Inter"/>
              </a:rPr>
              <a:t>centenas de dimensões</a:t>
            </a:r>
            <a:r>
              <a:rPr b="0" i="0" lang="en-US" sz="1500" u="none" cap="none" strike="noStrike">
                <a:solidFill>
                  <a:srgbClr val="CBD5E1"/>
                </a:solidFill>
                <a:latin typeface="Inter"/>
                <a:ea typeface="Inter"/>
                <a:cs typeface="Inter"/>
                <a:sym typeface="Inter"/>
              </a:rPr>
              <a:t>, é impossível visualizá-los diretamente.</a:t>
            </a:r>
            <a:endParaRPr/>
          </a:p>
        </p:txBody>
      </p:sp>
      <p:sp>
        <p:nvSpPr>
          <p:cNvPr id="184" name="Google Shape;184;p17"/>
          <p:cNvSpPr txBox="1"/>
          <p:nvPr/>
        </p:nvSpPr>
        <p:spPr>
          <a:xfrm>
            <a:off x="571500" y="2570857"/>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Para mapear esse espaço em um gráfico, utilizamos o </a:t>
            </a:r>
            <a:r>
              <a:rPr b="1" i="0" lang="en-US" sz="1500" u="none" cap="none" strike="noStrike">
                <a:solidFill>
                  <a:srgbClr val="CBD5E1"/>
                </a:solidFill>
                <a:latin typeface="Inter"/>
                <a:ea typeface="Inter"/>
                <a:cs typeface="Inter"/>
                <a:sym typeface="Inter"/>
              </a:rPr>
              <a:t>UMAP</a:t>
            </a:r>
            <a:r>
              <a:rPr b="0" i="0" lang="en-US" sz="1500" u="none" cap="none" strike="noStrike">
                <a:solidFill>
                  <a:srgbClr val="CBD5E1"/>
                </a:solidFill>
                <a:latin typeface="Inter"/>
                <a:ea typeface="Inter"/>
                <a:cs typeface="Inter"/>
                <a:sym typeface="Inter"/>
              </a:rPr>
              <a:t> para reduzir os dados para apenas </a:t>
            </a:r>
            <a:r>
              <a:rPr b="1" i="0" lang="en-US" sz="1500" u="none" cap="none" strike="noStrike">
                <a:solidFill>
                  <a:srgbClr val="CBD5E1"/>
                </a:solidFill>
                <a:latin typeface="Inter"/>
                <a:ea typeface="Inter"/>
                <a:cs typeface="Inter"/>
                <a:sym typeface="Inter"/>
              </a:rPr>
              <a:t>2 dimensões</a:t>
            </a:r>
            <a:r>
              <a:rPr b="0" i="0" lang="en-US" sz="1500" u="none" cap="none" strike="noStrike">
                <a:solidFill>
                  <a:srgbClr val="CBD5E1"/>
                </a:solidFill>
                <a:latin typeface="Inter"/>
                <a:ea typeface="Inter"/>
                <a:cs typeface="Inter"/>
                <a:sym typeface="Inter"/>
              </a:rPr>
              <a:t>.</a:t>
            </a:r>
            <a:endParaRPr/>
          </a:p>
        </p:txBody>
      </p:sp>
      <p:sp>
        <p:nvSpPr>
          <p:cNvPr id="185" name="Google Shape;185;p17"/>
          <p:cNvSpPr/>
          <p:nvPr/>
        </p:nvSpPr>
        <p:spPr>
          <a:xfrm>
            <a:off x="571500" y="3418582"/>
            <a:ext cx="5286375"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17"/>
          <p:cNvSpPr txBox="1"/>
          <p:nvPr/>
        </p:nvSpPr>
        <p:spPr>
          <a:xfrm>
            <a:off x="800100" y="3809107"/>
            <a:ext cx="4867275"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8FAFC"/>
                </a:solidFill>
                <a:latin typeface="Inter"/>
                <a:ea typeface="Inter"/>
                <a:cs typeface="Inter"/>
                <a:sym typeface="Inter"/>
              </a:rPr>
              <a:t>Dimensionalidade</a:t>
            </a:r>
            <a:endParaRPr/>
          </a:p>
        </p:txBody>
      </p:sp>
      <p:sp>
        <p:nvSpPr>
          <p:cNvPr id="187" name="Google Shape;187;p17"/>
          <p:cNvSpPr txBox="1"/>
          <p:nvPr/>
        </p:nvSpPr>
        <p:spPr>
          <a:xfrm>
            <a:off x="800100" y="4085332"/>
            <a:ext cx="486727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94A3B8"/>
                </a:solidFill>
                <a:latin typeface="Inter"/>
                <a:ea typeface="Inter"/>
                <a:cs typeface="Inter"/>
                <a:sym typeface="Inter"/>
              </a:rPr>
              <a:t>O número de variáveis usadas para representar um vetor matemático.</a:t>
            </a:r>
            <a:endParaRPr/>
          </a:p>
        </p:txBody>
      </p:sp>
      <p:sp>
        <p:nvSpPr>
          <p:cNvPr id="188" name="Google Shape;188;p17"/>
          <p:cNvSpPr txBox="1"/>
          <p:nvPr/>
        </p:nvSpPr>
        <p:spPr>
          <a:xfrm>
            <a:off x="800100" y="5110162"/>
            <a:ext cx="4867275"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8FAFC"/>
                </a:solidFill>
                <a:latin typeface="Inter"/>
                <a:ea typeface="Inter"/>
                <a:cs typeface="Inter"/>
                <a:sym typeface="Inter"/>
              </a:rPr>
              <a:t>UMAP</a:t>
            </a:r>
            <a:endParaRPr/>
          </a:p>
        </p:txBody>
      </p:sp>
      <p:sp>
        <p:nvSpPr>
          <p:cNvPr id="189" name="Google Shape;189;p17"/>
          <p:cNvSpPr txBox="1"/>
          <p:nvPr/>
        </p:nvSpPr>
        <p:spPr>
          <a:xfrm>
            <a:off x="800100" y="5386387"/>
            <a:ext cx="486727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94A3B8"/>
                </a:solidFill>
                <a:latin typeface="Inter"/>
                <a:ea typeface="Inter"/>
                <a:cs typeface="Inter"/>
                <a:sym typeface="Inter"/>
              </a:rPr>
              <a:t>Algoritmo não linear de redução de dimensionalidade otimizado para manter a estrutura topológica dos dados.</a:t>
            </a:r>
            <a:endParaRPr/>
          </a:p>
        </p:txBody>
      </p:sp>
      <p:sp>
        <p:nvSpPr>
          <p:cNvPr id="190" name="Google Shape;190;p17"/>
          <p:cNvSpPr txBox="1"/>
          <p:nvPr/>
        </p:nvSpPr>
        <p:spPr>
          <a:xfrm>
            <a:off x="571500" y="57150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Merriweather"/>
                <a:ea typeface="Merriweather"/>
                <a:cs typeface="Merriweather"/>
                <a:sym typeface="Merriweather"/>
              </a:rPr>
              <a:t>Redução e Visualização com UMAP</a:t>
            </a:r>
            <a:endParaRPr/>
          </a:p>
        </p:txBody>
      </p:sp>
      <p:sp>
        <p:nvSpPr>
          <p:cNvPr id="191" name="Google Shape;191;p17"/>
          <p:cNvSpPr/>
          <p:nvPr/>
        </p:nvSpPr>
        <p:spPr>
          <a:xfrm>
            <a:off x="571500" y="1209675"/>
            <a:ext cx="11049000" cy="19050"/>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92" name="Google Shape;192;p17"/>
          <p:cNvPicPr preferRelativeResize="0"/>
          <p:nvPr/>
        </p:nvPicPr>
        <p:blipFill>
          <a:blip r:embed="rId7">
            <a:alphaModFix/>
          </a:blip>
          <a:stretch>
            <a:fillRect/>
          </a:stretch>
        </p:blipFill>
        <p:spPr>
          <a:xfrm>
            <a:off x="5979825" y="1754711"/>
            <a:ext cx="5762620" cy="433738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96" name="Shape 196"/>
        <p:cNvGrpSpPr/>
        <p:nvPr/>
      </p:nvGrpSpPr>
      <p:grpSpPr>
        <a:xfrm>
          <a:off x="0" y="0"/>
          <a:ext cx="0" cy="0"/>
          <a:chOff x="0" y="0"/>
          <a:chExt cx="0" cy="0"/>
        </a:xfrm>
      </p:grpSpPr>
      <p:pic>
        <p:nvPicPr>
          <p:cNvPr descr="image.png" id="197" name="Google Shape;197;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8" name="Google Shape;198;p18"/>
          <p:cNvPicPr preferRelativeResize="0"/>
          <p:nvPr/>
        </p:nvPicPr>
        <p:blipFill rotWithShape="1">
          <a:blip r:embed="rId4">
            <a:alphaModFix/>
          </a:blip>
          <a:srcRect b="0" l="0" r="0" t="0"/>
          <a:stretch/>
        </p:blipFill>
        <p:spPr>
          <a:xfrm>
            <a:off x="6334125" y="3885307"/>
            <a:ext cx="5286375" cy="1110555"/>
          </a:xfrm>
          <a:prstGeom prst="rect">
            <a:avLst/>
          </a:prstGeom>
          <a:noFill/>
          <a:ln>
            <a:noFill/>
          </a:ln>
        </p:spPr>
      </p:pic>
      <p:pic>
        <p:nvPicPr>
          <p:cNvPr descr="image.png" id="199" name="Google Shape;199;p18"/>
          <p:cNvPicPr preferRelativeResize="0"/>
          <p:nvPr/>
        </p:nvPicPr>
        <p:blipFill rotWithShape="1">
          <a:blip r:embed="rId5">
            <a:alphaModFix/>
          </a:blip>
          <a:srcRect b="0" l="0" r="0" t="0"/>
          <a:stretch/>
        </p:blipFill>
        <p:spPr>
          <a:xfrm>
            <a:off x="6334125" y="5186362"/>
            <a:ext cx="5286375" cy="1110555"/>
          </a:xfrm>
          <a:prstGeom prst="rect">
            <a:avLst/>
          </a:prstGeom>
          <a:noFill/>
          <a:ln>
            <a:noFill/>
          </a:ln>
        </p:spPr>
      </p:pic>
      <p:sp>
        <p:nvSpPr>
          <p:cNvPr id="200" name="Google Shape;200;p18"/>
          <p:cNvSpPr txBox="1"/>
          <p:nvPr/>
        </p:nvSpPr>
        <p:spPr>
          <a:xfrm>
            <a:off x="571500" y="2600325"/>
            <a:ext cx="5286375" cy="1333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0500" u="none" cap="none" strike="noStrike">
                <a:solidFill>
                  <a:srgbClr val="0EA5E9"/>
                </a:solidFill>
                <a:latin typeface="Inter Black"/>
                <a:ea typeface="Inter Black"/>
                <a:cs typeface="Inter Black"/>
                <a:sym typeface="Inter Black"/>
              </a:rPr>
              <a:t>0.1984</a:t>
            </a:r>
            <a:endParaRPr/>
          </a:p>
        </p:txBody>
      </p:sp>
      <p:sp>
        <p:nvSpPr>
          <p:cNvPr id="201" name="Google Shape;201;p18"/>
          <p:cNvSpPr txBox="1"/>
          <p:nvPr/>
        </p:nvSpPr>
        <p:spPr>
          <a:xfrm>
            <a:off x="571500" y="4029075"/>
            <a:ext cx="5286375"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F8FAFC"/>
                </a:solidFill>
                <a:latin typeface="Inter"/>
                <a:ea typeface="Inter"/>
                <a:cs typeface="Inter"/>
                <a:sym typeface="Inter"/>
              </a:rPr>
              <a:t>Distância entre Discursos</a:t>
            </a:r>
            <a:endParaRPr/>
          </a:p>
        </p:txBody>
      </p:sp>
      <p:sp>
        <p:nvSpPr>
          <p:cNvPr id="202" name="Google Shape;202;p18"/>
          <p:cNvSpPr txBox="1"/>
          <p:nvPr/>
        </p:nvSpPr>
        <p:spPr>
          <a:xfrm>
            <a:off x="571500" y="4543425"/>
            <a:ext cx="5286375"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94A3B8"/>
                </a:solidFill>
                <a:latin typeface="Inter"/>
                <a:ea typeface="Inter"/>
                <a:cs typeface="Inter"/>
                <a:sym typeface="Inter"/>
              </a:rPr>
              <a:t>Distância métrica aferida a partir da média global de cada político.</a:t>
            </a:r>
            <a:endParaRPr/>
          </a:p>
        </p:txBody>
      </p:sp>
      <p:sp>
        <p:nvSpPr>
          <p:cNvPr id="203" name="Google Shape;203;p18"/>
          <p:cNvSpPr txBox="1"/>
          <p:nvPr/>
        </p:nvSpPr>
        <p:spPr>
          <a:xfrm>
            <a:off x="6334125" y="1599307"/>
            <a:ext cx="5550693"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EA5E9"/>
                </a:solidFill>
                <a:latin typeface="Merriweather"/>
                <a:ea typeface="Merriweather"/>
                <a:cs typeface="Merriweather"/>
                <a:sym typeface="Merriweather"/>
              </a:rPr>
              <a:t>Metodologia de Medição</a:t>
            </a:r>
            <a:endParaRPr/>
          </a:p>
        </p:txBody>
      </p:sp>
      <p:sp>
        <p:nvSpPr>
          <p:cNvPr id="204" name="Google Shape;204;p18"/>
          <p:cNvSpPr txBox="1"/>
          <p:nvPr/>
        </p:nvSpPr>
        <p:spPr>
          <a:xfrm>
            <a:off x="6334125" y="2085082"/>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Para medir a diferença média exata entre os dois conjuntos, aplicamos os seguintes passos algébricos:</a:t>
            </a:r>
            <a:endParaRPr/>
          </a:p>
        </p:txBody>
      </p:sp>
      <p:sp>
        <p:nvSpPr>
          <p:cNvPr id="205" name="Google Shape;205;p18"/>
          <p:cNvSpPr txBox="1"/>
          <p:nvPr/>
        </p:nvSpPr>
        <p:spPr>
          <a:xfrm>
            <a:off x="6391275" y="2847082"/>
            <a:ext cx="13335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Inter"/>
                <a:ea typeface="Inter"/>
                <a:cs typeface="Inter"/>
                <a:sym typeface="Inter"/>
              </a:rPr>
              <a:t>1.</a:t>
            </a:r>
            <a:endParaRPr/>
          </a:p>
        </p:txBody>
      </p:sp>
      <p:sp>
        <p:nvSpPr>
          <p:cNvPr id="206" name="Google Shape;206;p18"/>
          <p:cNvSpPr txBox="1"/>
          <p:nvPr/>
        </p:nvSpPr>
        <p:spPr>
          <a:xfrm>
            <a:off x="6524625" y="2847082"/>
            <a:ext cx="5095875" cy="304800"/>
          </a:xfrm>
          <a:prstGeom prst="rect">
            <a:avLst/>
          </a:prstGeom>
          <a:noFill/>
          <a:ln>
            <a:noFill/>
          </a:ln>
        </p:spPr>
        <p:txBody>
          <a:bodyPr anchorCtr="0" anchor="t" bIns="0" lIns="13335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Calculamos o </a:t>
            </a:r>
            <a:r>
              <a:rPr b="1" i="0" lang="en-US" sz="1500" u="none" cap="none" strike="noStrike">
                <a:solidFill>
                  <a:srgbClr val="CBD5E1"/>
                </a:solidFill>
                <a:latin typeface="Inter"/>
                <a:ea typeface="Inter"/>
                <a:cs typeface="Inter"/>
                <a:sym typeface="Inter"/>
              </a:rPr>
              <a:t>centróide</a:t>
            </a:r>
            <a:r>
              <a:rPr b="0" i="0" lang="en-US" sz="1500" u="none" cap="none" strike="noStrike">
                <a:solidFill>
                  <a:srgbClr val="CBD5E1"/>
                </a:solidFill>
                <a:latin typeface="Inter"/>
                <a:ea typeface="Inter"/>
                <a:cs typeface="Inter"/>
                <a:sym typeface="Inter"/>
              </a:rPr>
              <a:t> de cada autor</a:t>
            </a:r>
            <a:endParaRPr/>
          </a:p>
        </p:txBody>
      </p:sp>
      <p:sp>
        <p:nvSpPr>
          <p:cNvPr id="207" name="Google Shape;207;p18"/>
          <p:cNvSpPr txBox="1"/>
          <p:nvPr/>
        </p:nvSpPr>
        <p:spPr>
          <a:xfrm>
            <a:off x="6353175" y="3294757"/>
            <a:ext cx="17145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Inter"/>
                <a:ea typeface="Inter"/>
                <a:cs typeface="Inter"/>
                <a:sym typeface="Inter"/>
              </a:rPr>
              <a:t>2.</a:t>
            </a:r>
            <a:endParaRPr/>
          </a:p>
        </p:txBody>
      </p:sp>
      <p:sp>
        <p:nvSpPr>
          <p:cNvPr id="208" name="Google Shape;208;p18"/>
          <p:cNvSpPr txBox="1"/>
          <p:nvPr/>
        </p:nvSpPr>
        <p:spPr>
          <a:xfrm>
            <a:off x="6524625" y="3294757"/>
            <a:ext cx="5095875" cy="304800"/>
          </a:xfrm>
          <a:prstGeom prst="rect">
            <a:avLst/>
          </a:prstGeom>
          <a:noFill/>
          <a:ln>
            <a:noFill/>
          </a:ln>
        </p:spPr>
        <p:txBody>
          <a:bodyPr anchorCtr="0" anchor="t" bIns="0" lIns="17145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Medimos a </a:t>
            </a:r>
            <a:r>
              <a:rPr b="1" i="0" lang="en-US" sz="1500" u="none" cap="none" strike="noStrike">
                <a:solidFill>
                  <a:srgbClr val="CBD5E1"/>
                </a:solidFill>
                <a:latin typeface="Inter"/>
                <a:ea typeface="Inter"/>
                <a:cs typeface="Inter"/>
                <a:sym typeface="Inter"/>
              </a:rPr>
              <a:t>distância cosseno</a:t>
            </a:r>
            <a:r>
              <a:rPr b="0" i="0" lang="en-US" sz="1500" u="none" cap="none" strike="noStrike">
                <a:solidFill>
                  <a:srgbClr val="CBD5E1"/>
                </a:solidFill>
                <a:latin typeface="Inter"/>
                <a:ea typeface="Inter"/>
                <a:cs typeface="Inter"/>
                <a:sym typeface="Inter"/>
              </a:rPr>
              <a:t> entre eles</a:t>
            </a:r>
            <a:endParaRPr/>
          </a:p>
        </p:txBody>
      </p:sp>
      <p:sp>
        <p:nvSpPr>
          <p:cNvPr id="209" name="Google Shape;209;p18"/>
          <p:cNvSpPr txBox="1"/>
          <p:nvPr/>
        </p:nvSpPr>
        <p:spPr>
          <a:xfrm>
            <a:off x="6562725" y="4028182"/>
            <a:ext cx="4867275"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8FAFC"/>
                </a:solidFill>
                <a:latin typeface="Inter"/>
                <a:ea typeface="Inter"/>
                <a:cs typeface="Inter"/>
                <a:sym typeface="Inter"/>
              </a:rPr>
              <a:t>Centróide</a:t>
            </a:r>
            <a:endParaRPr/>
          </a:p>
        </p:txBody>
      </p:sp>
      <p:sp>
        <p:nvSpPr>
          <p:cNvPr id="210" name="Google Shape;210;p18"/>
          <p:cNvSpPr txBox="1"/>
          <p:nvPr/>
        </p:nvSpPr>
        <p:spPr>
          <a:xfrm>
            <a:off x="6562725" y="4304407"/>
            <a:ext cx="486727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94A3B8"/>
                </a:solidFill>
                <a:latin typeface="Inter"/>
                <a:ea typeface="Inter"/>
                <a:cs typeface="Inter"/>
                <a:sym typeface="Inter"/>
              </a:rPr>
              <a:t>A média posicional de todos os vetores de um determinado grupo.</a:t>
            </a:r>
            <a:endParaRPr/>
          </a:p>
        </p:txBody>
      </p:sp>
      <p:sp>
        <p:nvSpPr>
          <p:cNvPr id="211" name="Google Shape;211;p18"/>
          <p:cNvSpPr txBox="1"/>
          <p:nvPr/>
        </p:nvSpPr>
        <p:spPr>
          <a:xfrm>
            <a:off x="6562725" y="5329237"/>
            <a:ext cx="4867275"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8FAFC"/>
                </a:solidFill>
                <a:latin typeface="Inter"/>
                <a:ea typeface="Inter"/>
                <a:cs typeface="Inter"/>
                <a:sym typeface="Inter"/>
              </a:rPr>
              <a:t>Distância Cosseno</a:t>
            </a:r>
            <a:endParaRPr/>
          </a:p>
        </p:txBody>
      </p:sp>
      <p:sp>
        <p:nvSpPr>
          <p:cNvPr id="212" name="Google Shape;212;p18"/>
          <p:cNvSpPr txBox="1"/>
          <p:nvPr/>
        </p:nvSpPr>
        <p:spPr>
          <a:xfrm>
            <a:off x="6562725" y="5605462"/>
            <a:ext cx="486727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94A3B8"/>
                </a:solidFill>
                <a:latin typeface="Inter"/>
                <a:ea typeface="Inter"/>
                <a:cs typeface="Inter"/>
                <a:sym typeface="Inter"/>
              </a:rPr>
              <a:t>A medida angular entre vetores (quanto mais próximo de 0, mais similares).</a:t>
            </a:r>
            <a:endParaRPr/>
          </a:p>
        </p:txBody>
      </p:sp>
      <p:sp>
        <p:nvSpPr>
          <p:cNvPr id="213" name="Google Shape;213;p18"/>
          <p:cNvSpPr txBox="1"/>
          <p:nvPr/>
        </p:nvSpPr>
        <p:spPr>
          <a:xfrm>
            <a:off x="571500" y="561082"/>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Merriweather"/>
                <a:ea typeface="Merriweather"/>
                <a:cs typeface="Merriweather"/>
                <a:sym typeface="Merriweather"/>
              </a:rPr>
              <a:t>Contraste Vetorial e Distância</a:t>
            </a:r>
            <a:endParaRPr/>
          </a:p>
        </p:txBody>
      </p:sp>
      <p:sp>
        <p:nvSpPr>
          <p:cNvPr id="214" name="Google Shape;214;p18"/>
          <p:cNvSpPr/>
          <p:nvPr/>
        </p:nvSpPr>
        <p:spPr>
          <a:xfrm>
            <a:off x="571500" y="1199257"/>
            <a:ext cx="11049000" cy="19050"/>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18" name="Shape 218"/>
        <p:cNvGrpSpPr/>
        <p:nvPr/>
      </p:nvGrpSpPr>
      <p:grpSpPr>
        <a:xfrm>
          <a:off x="0" y="0"/>
          <a:ext cx="0" cy="0"/>
          <a:chOff x="0" y="0"/>
          <a:chExt cx="0" cy="0"/>
        </a:xfrm>
      </p:grpSpPr>
      <p:pic>
        <p:nvPicPr>
          <p:cNvPr descr="image.png" id="219" name="Google Shape;219;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0" name="Google Shape;220;p19"/>
          <p:cNvPicPr preferRelativeResize="0"/>
          <p:nvPr/>
        </p:nvPicPr>
        <p:blipFill rotWithShape="1">
          <a:blip r:embed="rId4">
            <a:alphaModFix/>
          </a:blip>
          <a:srcRect b="0" l="0" r="0" t="0"/>
          <a:stretch/>
        </p:blipFill>
        <p:spPr>
          <a:xfrm>
            <a:off x="571500" y="1419373"/>
            <a:ext cx="5286375" cy="5057626"/>
          </a:xfrm>
          <a:prstGeom prst="rect">
            <a:avLst/>
          </a:prstGeom>
          <a:noFill/>
          <a:ln>
            <a:noFill/>
          </a:ln>
        </p:spPr>
      </p:pic>
      <p:pic>
        <p:nvPicPr>
          <p:cNvPr descr="image.png" id="221" name="Google Shape;221;p19"/>
          <p:cNvPicPr preferRelativeResize="0"/>
          <p:nvPr/>
        </p:nvPicPr>
        <p:blipFill rotWithShape="1">
          <a:blip r:embed="rId5">
            <a:alphaModFix/>
          </a:blip>
          <a:srcRect b="0" l="0" r="0" t="0"/>
          <a:stretch/>
        </p:blipFill>
        <p:spPr>
          <a:xfrm>
            <a:off x="6334125" y="1419373"/>
            <a:ext cx="5286375" cy="5057626"/>
          </a:xfrm>
          <a:prstGeom prst="rect">
            <a:avLst/>
          </a:prstGeom>
          <a:noFill/>
          <a:ln>
            <a:noFill/>
          </a:ln>
        </p:spPr>
      </p:pic>
      <p:pic>
        <p:nvPicPr>
          <p:cNvPr descr="image.png" id="222" name="Google Shape;222;p19"/>
          <p:cNvPicPr preferRelativeResize="0"/>
          <p:nvPr/>
        </p:nvPicPr>
        <p:blipFill rotWithShape="1">
          <a:blip r:embed="rId6">
            <a:alphaModFix/>
          </a:blip>
          <a:srcRect b="0" l="0" r="0" t="0"/>
          <a:stretch/>
        </p:blipFill>
        <p:spPr>
          <a:xfrm>
            <a:off x="6724650" y="3400573"/>
            <a:ext cx="4505325" cy="1384845"/>
          </a:xfrm>
          <a:prstGeom prst="rect">
            <a:avLst/>
          </a:prstGeom>
          <a:noFill/>
          <a:ln>
            <a:noFill/>
          </a:ln>
        </p:spPr>
      </p:pic>
      <p:pic>
        <p:nvPicPr>
          <p:cNvPr descr="image.png" id="223" name="Google Shape;223;p19"/>
          <p:cNvPicPr preferRelativeResize="0"/>
          <p:nvPr/>
        </p:nvPicPr>
        <p:blipFill rotWithShape="1">
          <a:blip r:embed="rId7">
            <a:alphaModFix/>
          </a:blip>
          <a:srcRect b="0" l="0" r="0" t="0"/>
          <a:stretch/>
        </p:blipFill>
        <p:spPr>
          <a:xfrm>
            <a:off x="6724650" y="4975919"/>
            <a:ext cx="4505325" cy="1110555"/>
          </a:xfrm>
          <a:prstGeom prst="rect">
            <a:avLst/>
          </a:prstGeom>
          <a:noFill/>
          <a:ln>
            <a:noFill/>
          </a:ln>
        </p:spPr>
      </p:pic>
      <p:sp>
        <p:nvSpPr>
          <p:cNvPr id="224" name="Google Shape;224;p19"/>
          <p:cNvSpPr txBox="1"/>
          <p:nvPr/>
        </p:nvSpPr>
        <p:spPr>
          <a:xfrm>
            <a:off x="962025" y="1809898"/>
            <a:ext cx="4730591"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EA5E9"/>
                </a:solidFill>
                <a:latin typeface="Merriweather"/>
                <a:ea typeface="Merriweather"/>
                <a:cs typeface="Merriweather"/>
                <a:sym typeface="Merriweather"/>
              </a:rPr>
              <a:t>Treinamento do Modelo</a:t>
            </a:r>
            <a:endParaRPr/>
          </a:p>
        </p:txBody>
      </p:sp>
      <p:sp>
        <p:nvSpPr>
          <p:cNvPr id="225" name="Google Shape;225;p19"/>
          <p:cNvSpPr txBox="1"/>
          <p:nvPr/>
        </p:nvSpPr>
        <p:spPr>
          <a:xfrm>
            <a:off x="962025" y="2295673"/>
            <a:ext cx="450532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Treinamos um modelo de Machine Learning focado em prever o autor da frase baseando-se unicamente no seu vetor semântico.</a:t>
            </a:r>
            <a:endParaRPr/>
          </a:p>
        </p:txBody>
      </p:sp>
      <p:sp>
        <p:nvSpPr>
          <p:cNvPr id="226" name="Google Shape;226;p19"/>
          <p:cNvSpPr txBox="1"/>
          <p:nvPr/>
        </p:nvSpPr>
        <p:spPr>
          <a:xfrm>
            <a:off x="962025" y="3448198"/>
            <a:ext cx="4730591"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8FAFC"/>
                </a:solidFill>
                <a:latin typeface="Inter"/>
                <a:ea typeface="Inter"/>
                <a:cs typeface="Inter"/>
                <a:sym typeface="Inter"/>
              </a:rPr>
              <a:t>Modelo Utilizado:</a:t>
            </a:r>
            <a:endParaRPr/>
          </a:p>
        </p:txBody>
      </p:sp>
      <p:sp>
        <p:nvSpPr>
          <p:cNvPr id="227" name="Google Shape;227;p19"/>
          <p:cNvSpPr txBox="1"/>
          <p:nvPr/>
        </p:nvSpPr>
        <p:spPr>
          <a:xfrm>
            <a:off x="962025" y="3930104"/>
            <a:ext cx="4505325" cy="36567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0EA5E9"/>
                </a:solidFill>
                <a:latin typeface="Inter"/>
                <a:ea typeface="Inter"/>
                <a:cs typeface="Inter"/>
                <a:sym typeface="Inter"/>
              </a:rPr>
              <a:t>Regressão Logística</a:t>
            </a:r>
            <a:endParaRPr/>
          </a:p>
        </p:txBody>
      </p:sp>
      <p:sp>
        <p:nvSpPr>
          <p:cNvPr id="228" name="Google Shape;228;p19"/>
          <p:cNvSpPr txBox="1"/>
          <p:nvPr/>
        </p:nvSpPr>
        <p:spPr>
          <a:xfrm>
            <a:off x="962025" y="4549080"/>
            <a:ext cx="4730591"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8FAFC"/>
                </a:solidFill>
                <a:latin typeface="Inter"/>
                <a:ea typeface="Inter"/>
                <a:cs typeface="Inter"/>
                <a:sym typeface="Inter"/>
              </a:rPr>
              <a:t>Divisão dos Dados:</a:t>
            </a:r>
            <a:endParaRPr/>
          </a:p>
        </p:txBody>
      </p:sp>
      <p:sp>
        <p:nvSpPr>
          <p:cNvPr id="229" name="Google Shape;229;p19"/>
          <p:cNvSpPr txBox="1"/>
          <p:nvPr/>
        </p:nvSpPr>
        <p:spPr>
          <a:xfrm>
            <a:off x="6724650" y="1809898"/>
            <a:ext cx="4730591"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EA5E9"/>
                </a:solidFill>
                <a:latin typeface="Merriweather"/>
                <a:ea typeface="Merriweather"/>
                <a:cs typeface="Merriweather"/>
                <a:sym typeface="Merriweather"/>
              </a:rPr>
              <a:t>Métricas e Conceitos</a:t>
            </a:r>
            <a:endParaRPr/>
          </a:p>
        </p:txBody>
      </p:sp>
      <p:sp>
        <p:nvSpPr>
          <p:cNvPr id="230" name="Google Shape;230;p19"/>
          <p:cNvSpPr txBox="1"/>
          <p:nvPr/>
        </p:nvSpPr>
        <p:spPr>
          <a:xfrm>
            <a:off x="6724650" y="2295673"/>
            <a:ext cx="450532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Para avaliar a performance dessa abordagem, utilizamos métricas rigorosas de validação de algoritmos.</a:t>
            </a:r>
            <a:endParaRPr/>
          </a:p>
        </p:txBody>
      </p:sp>
      <p:sp>
        <p:nvSpPr>
          <p:cNvPr id="231" name="Google Shape;231;p19"/>
          <p:cNvSpPr txBox="1"/>
          <p:nvPr/>
        </p:nvSpPr>
        <p:spPr>
          <a:xfrm>
            <a:off x="1095375" y="5030985"/>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Inter"/>
                <a:ea typeface="Inter"/>
                <a:cs typeface="Inter"/>
                <a:sym typeface="Inter"/>
              </a:rPr>
              <a:t>•</a:t>
            </a:r>
            <a:endParaRPr/>
          </a:p>
        </p:txBody>
      </p:sp>
      <p:sp>
        <p:nvSpPr>
          <p:cNvPr id="232" name="Google Shape;232;p19"/>
          <p:cNvSpPr txBox="1"/>
          <p:nvPr/>
        </p:nvSpPr>
        <p:spPr>
          <a:xfrm>
            <a:off x="1200150" y="5030985"/>
            <a:ext cx="4267200" cy="3048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Inter"/>
                <a:ea typeface="Inter"/>
                <a:cs typeface="Inter"/>
                <a:sym typeface="Inter"/>
              </a:rPr>
              <a:t>80%</a:t>
            </a:r>
            <a:r>
              <a:rPr b="0" i="0" lang="en-US" sz="1500" u="none" cap="none" strike="noStrike">
                <a:solidFill>
                  <a:srgbClr val="CBD5E1"/>
                </a:solidFill>
                <a:latin typeface="Inter"/>
                <a:ea typeface="Inter"/>
                <a:cs typeface="Inter"/>
                <a:sym typeface="Inter"/>
              </a:rPr>
              <a:t> para Treino</a:t>
            </a:r>
            <a:endParaRPr/>
          </a:p>
        </p:txBody>
      </p:sp>
      <p:sp>
        <p:nvSpPr>
          <p:cNvPr id="233" name="Google Shape;233;p19"/>
          <p:cNvSpPr txBox="1"/>
          <p:nvPr/>
        </p:nvSpPr>
        <p:spPr>
          <a:xfrm>
            <a:off x="1095375" y="5478660"/>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Inter"/>
                <a:ea typeface="Inter"/>
                <a:cs typeface="Inter"/>
                <a:sym typeface="Inter"/>
              </a:rPr>
              <a:t>•</a:t>
            </a:r>
            <a:endParaRPr/>
          </a:p>
        </p:txBody>
      </p:sp>
      <p:sp>
        <p:nvSpPr>
          <p:cNvPr id="234" name="Google Shape;234;p19"/>
          <p:cNvSpPr txBox="1"/>
          <p:nvPr/>
        </p:nvSpPr>
        <p:spPr>
          <a:xfrm>
            <a:off x="1200150" y="5478660"/>
            <a:ext cx="4267200" cy="3048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Inter"/>
                <a:ea typeface="Inter"/>
                <a:cs typeface="Inter"/>
                <a:sym typeface="Inter"/>
              </a:rPr>
              <a:t>20%</a:t>
            </a:r>
            <a:r>
              <a:rPr b="0" i="0" lang="en-US" sz="1500" u="none" cap="none" strike="noStrike">
                <a:solidFill>
                  <a:srgbClr val="CBD5E1"/>
                </a:solidFill>
                <a:latin typeface="Inter"/>
                <a:ea typeface="Inter"/>
                <a:cs typeface="Inter"/>
                <a:sym typeface="Inter"/>
              </a:rPr>
              <a:t> para Teste</a:t>
            </a:r>
            <a:endParaRPr/>
          </a:p>
        </p:txBody>
      </p:sp>
      <p:sp>
        <p:nvSpPr>
          <p:cNvPr id="235" name="Google Shape;235;p19"/>
          <p:cNvSpPr txBox="1"/>
          <p:nvPr/>
        </p:nvSpPr>
        <p:spPr>
          <a:xfrm>
            <a:off x="6953250" y="3543448"/>
            <a:ext cx="4086225"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8FAFC"/>
                </a:solidFill>
                <a:latin typeface="Inter"/>
                <a:ea typeface="Inter"/>
                <a:cs typeface="Inter"/>
                <a:sym typeface="Inter"/>
              </a:rPr>
              <a:t>Classificação Supervisionada</a:t>
            </a:r>
            <a:endParaRPr/>
          </a:p>
        </p:txBody>
      </p:sp>
      <p:sp>
        <p:nvSpPr>
          <p:cNvPr id="236" name="Google Shape;236;p19"/>
          <p:cNvSpPr txBox="1"/>
          <p:nvPr/>
        </p:nvSpPr>
        <p:spPr>
          <a:xfrm>
            <a:off x="6953250" y="3819673"/>
            <a:ext cx="4086225"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94A3B8"/>
                </a:solidFill>
                <a:latin typeface="Inter"/>
                <a:ea typeface="Inter"/>
                <a:cs typeface="Inter"/>
                <a:sym typeface="Inter"/>
              </a:rPr>
              <a:t>Modelo preditivo treinado com um conjunto de exemplos já previamente rotulados com a resposta certa.</a:t>
            </a:r>
            <a:endParaRPr/>
          </a:p>
        </p:txBody>
      </p:sp>
      <p:sp>
        <p:nvSpPr>
          <p:cNvPr id="237" name="Google Shape;237;p19"/>
          <p:cNvSpPr txBox="1"/>
          <p:nvPr/>
        </p:nvSpPr>
        <p:spPr>
          <a:xfrm>
            <a:off x="6953250" y="5118794"/>
            <a:ext cx="4086225"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8FAFC"/>
                </a:solidFill>
                <a:latin typeface="Inter"/>
                <a:ea typeface="Inter"/>
                <a:cs typeface="Inter"/>
                <a:sym typeface="Inter"/>
              </a:rPr>
              <a:t>Acurácia</a:t>
            </a:r>
            <a:endParaRPr/>
          </a:p>
        </p:txBody>
      </p:sp>
      <p:sp>
        <p:nvSpPr>
          <p:cNvPr id="238" name="Google Shape;238;p19"/>
          <p:cNvSpPr txBox="1"/>
          <p:nvPr/>
        </p:nvSpPr>
        <p:spPr>
          <a:xfrm>
            <a:off x="6953250" y="5395019"/>
            <a:ext cx="40862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94A3B8"/>
                </a:solidFill>
                <a:latin typeface="Inter"/>
                <a:ea typeface="Inter"/>
                <a:cs typeface="Inter"/>
                <a:sym typeface="Inter"/>
              </a:rPr>
              <a:t>Proporção total de previsões corretas (acertos) sobre o total de tentativas do modelo.</a:t>
            </a:r>
            <a:endParaRPr/>
          </a:p>
        </p:txBody>
      </p:sp>
      <p:sp>
        <p:nvSpPr>
          <p:cNvPr id="239" name="Google Shape;239;p19"/>
          <p:cNvSpPr txBox="1"/>
          <p:nvPr/>
        </p:nvSpPr>
        <p:spPr>
          <a:xfrm>
            <a:off x="571500" y="381148"/>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Merriweather"/>
                <a:ea typeface="Merriweather"/>
                <a:cs typeface="Merriweather"/>
                <a:sym typeface="Merriweather"/>
              </a:rPr>
              <a:t>Classificação Preditiva</a:t>
            </a:r>
            <a:endParaRPr/>
          </a:p>
        </p:txBody>
      </p:sp>
      <p:sp>
        <p:nvSpPr>
          <p:cNvPr id="240" name="Google Shape;240;p19"/>
          <p:cNvSpPr/>
          <p:nvPr/>
        </p:nvSpPr>
        <p:spPr>
          <a:xfrm>
            <a:off x="571500" y="1019323"/>
            <a:ext cx="11049000" cy="19050"/>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44" name="Shape 244"/>
        <p:cNvGrpSpPr/>
        <p:nvPr/>
      </p:nvGrpSpPr>
      <p:grpSpPr>
        <a:xfrm>
          <a:off x="0" y="0"/>
          <a:ext cx="0" cy="0"/>
          <a:chOff x="0" y="0"/>
          <a:chExt cx="0" cy="0"/>
        </a:xfrm>
      </p:grpSpPr>
      <p:pic>
        <p:nvPicPr>
          <p:cNvPr descr="image.png" id="245" name="Google Shape;245;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46" name="Google Shape;246;p20"/>
          <p:cNvPicPr preferRelativeResize="0"/>
          <p:nvPr/>
        </p:nvPicPr>
        <p:blipFill rotWithShape="1">
          <a:blip r:embed="rId4">
            <a:alphaModFix/>
          </a:blip>
          <a:srcRect b="0" l="0" r="0" t="0"/>
          <a:stretch/>
        </p:blipFill>
        <p:spPr>
          <a:xfrm>
            <a:off x="6334125" y="1804987"/>
            <a:ext cx="5286375" cy="4286250"/>
          </a:xfrm>
          <a:prstGeom prst="rect">
            <a:avLst/>
          </a:prstGeom>
          <a:noFill/>
          <a:ln>
            <a:noFill/>
          </a:ln>
        </p:spPr>
      </p:pic>
      <p:sp>
        <p:nvSpPr>
          <p:cNvPr id="247" name="Google Shape;247;p20"/>
          <p:cNvSpPr txBox="1"/>
          <p:nvPr/>
        </p:nvSpPr>
        <p:spPr>
          <a:xfrm>
            <a:off x="571500" y="1885950"/>
            <a:ext cx="5286375" cy="1333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0500" u="none" cap="none" strike="noStrike">
                <a:solidFill>
                  <a:srgbClr val="0EA5E9"/>
                </a:solidFill>
                <a:latin typeface="Inter Black"/>
                <a:ea typeface="Inter Black"/>
                <a:cs typeface="Inter Black"/>
                <a:sym typeface="Inter Black"/>
              </a:rPr>
              <a:t>94%</a:t>
            </a:r>
            <a:endParaRPr/>
          </a:p>
        </p:txBody>
      </p:sp>
      <p:sp>
        <p:nvSpPr>
          <p:cNvPr id="248" name="Google Shape;248;p20"/>
          <p:cNvSpPr txBox="1"/>
          <p:nvPr/>
        </p:nvSpPr>
        <p:spPr>
          <a:xfrm>
            <a:off x="571500" y="3314700"/>
            <a:ext cx="5286375"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F8FAFC"/>
                </a:solidFill>
                <a:latin typeface="Inter"/>
                <a:ea typeface="Inter"/>
                <a:cs typeface="Inter"/>
                <a:sym typeface="Inter"/>
              </a:rPr>
              <a:t>Acurácia de Teste</a:t>
            </a:r>
            <a:endParaRPr/>
          </a:p>
        </p:txBody>
      </p:sp>
      <p:sp>
        <p:nvSpPr>
          <p:cNvPr id="249" name="Google Shape;249;p20"/>
          <p:cNvSpPr txBox="1"/>
          <p:nvPr/>
        </p:nvSpPr>
        <p:spPr>
          <a:xfrm>
            <a:off x="571500" y="4019550"/>
            <a:ext cx="5550693"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EA5E9"/>
                </a:solidFill>
                <a:latin typeface="Merriweather"/>
                <a:ea typeface="Merriweather"/>
                <a:cs typeface="Merriweather"/>
                <a:sym typeface="Merriweather"/>
              </a:rPr>
              <a:t>Interpretação:</a:t>
            </a:r>
            <a:endParaRPr/>
          </a:p>
        </p:txBody>
      </p:sp>
      <p:sp>
        <p:nvSpPr>
          <p:cNvPr id="250" name="Google Shape;250;p20"/>
          <p:cNvSpPr txBox="1"/>
          <p:nvPr/>
        </p:nvSpPr>
        <p:spPr>
          <a:xfrm>
            <a:off x="657225" y="4505325"/>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Inter"/>
                <a:ea typeface="Inter"/>
                <a:cs typeface="Inter"/>
                <a:sym typeface="Inter"/>
              </a:rPr>
              <a:t>•</a:t>
            </a:r>
            <a:endParaRPr/>
          </a:p>
        </p:txBody>
      </p:sp>
      <p:sp>
        <p:nvSpPr>
          <p:cNvPr id="251" name="Google Shape;251;p20"/>
          <p:cNvSpPr txBox="1"/>
          <p:nvPr/>
        </p:nvSpPr>
        <p:spPr>
          <a:xfrm>
            <a:off x="762000" y="4505325"/>
            <a:ext cx="5095875" cy="60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Os embeddings semânticos conseguem capturar o "estilo" individual dos autores.</a:t>
            </a:r>
            <a:endParaRPr/>
          </a:p>
        </p:txBody>
      </p:sp>
      <p:sp>
        <p:nvSpPr>
          <p:cNvPr id="252" name="Google Shape;252;p20"/>
          <p:cNvSpPr txBox="1"/>
          <p:nvPr/>
        </p:nvSpPr>
        <p:spPr>
          <a:xfrm>
            <a:off x="657225" y="5257800"/>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Inter"/>
                <a:ea typeface="Inter"/>
                <a:cs typeface="Inter"/>
                <a:sym typeface="Inter"/>
              </a:rPr>
              <a:t>•</a:t>
            </a:r>
            <a:endParaRPr/>
          </a:p>
        </p:txBody>
      </p:sp>
      <p:sp>
        <p:nvSpPr>
          <p:cNvPr id="253" name="Google Shape;253;p20"/>
          <p:cNvSpPr txBox="1"/>
          <p:nvPr/>
        </p:nvSpPr>
        <p:spPr>
          <a:xfrm>
            <a:off x="762000" y="5257800"/>
            <a:ext cx="5095875" cy="60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Existe uma separação semântica clara e generalizável, comprovada pela matriz de confusão.</a:t>
            </a:r>
            <a:endParaRPr/>
          </a:p>
        </p:txBody>
      </p:sp>
      <p:sp>
        <p:nvSpPr>
          <p:cNvPr id="254" name="Google Shape;254;p20"/>
          <p:cNvSpPr txBox="1"/>
          <p:nvPr/>
        </p:nvSpPr>
        <p:spPr>
          <a:xfrm>
            <a:off x="571500" y="57150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Merriweather"/>
                <a:ea typeface="Merriweather"/>
                <a:cs typeface="Merriweather"/>
                <a:sym typeface="Merriweather"/>
              </a:rPr>
              <a:t>Desempenho da Classificação</a:t>
            </a:r>
            <a:endParaRPr/>
          </a:p>
        </p:txBody>
      </p:sp>
      <p:sp>
        <p:nvSpPr>
          <p:cNvPr id="255" name="Google Shape;255;p20"/>
          <p:cNvSpPr/>
          <p:nvPr/>
        </p:nvSpPr>
        <p:spPr>
          <a:xfrm>
            <a:off x="571500" y="1209675"/>
            <a:ext cx="11049000" cy="19050"/>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56" name="Google Shape;256;p20"/>
          <p:cNvPicPr preferRelativeResize="0"/>
          <p:nvPr/>
        </p:nvPicPr>
        <p:blipFill>
          <a:blip r:embed="rId5">
            <a:alphaModFix/>
          </a:blip>
          <a:stretch>
            <a:fillRect/>
          </a:stretch>
        </p:blipFill>
        <p:spPr>
          <a:xfrm>
            <a:off x="6122200" y="1666850"/>
            <a:ext cx="4933950" cy="4562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60" name="Shape 260"/>
        <p:cNvGrpSpPr/>
        <p:nvPr/>
      </p:nvGrpSpPr>
      <p:grpSpPr>
        <a:xfrm>
          <a:off x="0" y="0"/>
          <a:ext cx="0" cy="0"/>
          <a:chOff x="0" y="0"/>
          <a:chExt cx="0" cy="0"/>
        </a:xfrm>
      </p:grpSpPr>
      <p:pic>
        <p:nvPicPr>
          <p:cNvPr descr="image.png" id="261" name="Google Shape;261;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62" name="Google Shape;262;p21"/>
          <p:cNvPicPr preferRelativeResize="0"/>
          <p:nvPr/>
        </p:nvPicPr>
        <p:blipFill rotWithShape="1">
          <a:blip r:embed="rId4">
            <a:alphaModFix/>
          </a:blip>
          <a:srcRect b="0" l="0" r="0" t="0"/>
          <a:stretch/>
        </p:blipFill>
        <p:spPr>
          <a:xfrm>
            <a:off x="571500" y="1574601"/>
            <a:ext cx="5334000" cy="4747021"/>
          </a:xfrm>
          <a:prstGeom prst="rect">
            <a:avLst/>
          </a:prstGeom>
          <a:noFill/>
          <a:ln>
            <a:noFill/>
          </a:ln>
        </p:spPr>
      </p:pic>
      <p:pic>
        <p:nvPicPr>
          <p:cNvPr descr="image.png" id="263" name="Google Shape;263;p21"/>
          <p:cNvPicPr preferRelativeResize="0"/>
          <p:nvPr/>
        </p:nvPicPr>
        <p:blipFill rotWithShape="1">
          <a:blip r:embed="rId5">
            <a:alphaModFix/>
          </a:blip>
          <a:srcRect b="0" l="0" r="0" t="0"/>
          <a:stretch/>
        </p:blipFill>
        <p:spPr>
          <a:xfrm>
            <a:off x="6286500" y="1574601"/>
            <a:ext cx="5334000" cy="4747021"/>
          </a:xfrm>
          <a:prstGeom prst="rect">
            <a:avLst/>
          </a:prstGeom>
          <a:noFill/>
          <a:ln>
            <a:noFill/>
          </a:ln>
        </p:spPr>
      </p:pic>
      <p:pic>
        <p:nvPicPr>
          <p:cNvPr descr="image.png" id="264" name="Google Shape;264;p21"/>
          <p:cNvPicPr preferRelativeResize="0"/>
          <p:nvPr/>
        </p:nvPicPr>
        <p:blipFill rotWithShape="1">
          <a:blip r:embed="rId6">
            <a:alphaModFix/>
          </a:blip>
          <a:srcRect b="0" l="0" r="0" t="0"/>
          <a:stretch/>
        </p:blipFill>
        <p:spPr>
          <a:xfrm>
            <a:off x="6581775" y="3270051"/>
            <a:ext cx="4743450" cy="1049535"/>
          </a:xfrm>
          <a:prstGeom prst="rect">
            <a:avLst/>
          </a:prstGeom>
          <a:noFill/>
          <a:ln>
            <a:noFill/>
          </a:ln>
        </p:spPr>
      </p:pic>
      <p:pic>
        <p:nvPicPr>
          <p:cNvPr descr="image.png" id="265" name="Google Shape;265;p21"/>
          <p:cNvPicPr preferRelativeResize="0"/>
          <p:nvPr/>
        </p:nvPicPr>
        <p:blipFill rotWithShape="1">
          <a:blip r:embed="rId7">
            <a:alphaModFix/>
          </a:blip>
          <a:srcRect b="0" l="0" r="0" t="0"/>
          <a:stretch/>
        </p:blipFill>
        <p:spPr>
          <a:xfrm>
            <a:off x="6581775" y="4414837"/>
            <a:ext cx="2066925" cy="710505"/>
          </a:xfrm>
          <a:prstGeom prst="rect">
            <a:avLst/>
          </a:prstGeom>
          <a:noFill/>
          <a:ln>
            <a:noFill/>
          </a:ln>
        </p:spPr>
      </p:pic>
      <p:pic>
        <p:nvPicPr>
          <p:cNvPr descr="image.png" id="266" name="Google Shape;266;p21"/>
          <p:cNvPicPr preferRelativeResize="0"/>
          <p:nvPr/>
        </p:nvPicPr>
        <p:blipFill rotWithShape="1">
          <a:blip r:embed="rId8">
            <a:alphaModFix/>
          </a:blip>
          <a:srcRect b="0" l="0" r="0" t="0"/>
          <a:stretch/>
        </p:blipFill>
        <p:spPr>
          <a:xfrm>
            <a:off x="6581775" y="5220592"/>
            <a:ext cx="2886075" cy="710505"/>
          </a:xfrm>
          <a:prstGeom prst="rect">
            <a:avLst/>
          </a:prstGeom>
          <a:noFill/>
          <a:ln>
            <a:noFill/>
          </a:ln>
        </p:spPr>
      </p:pic>
      <p:sp>
        <p:nvSpPr>
          <p:cNvPr id="267" name="Google Shape;267;p21"/>
          <p:cNvSpPr/>
          <p:nvPr/>
        </p:nvSpPr>
        <p:spPr>
          <a:xfrm>
            <a:off x="581025" y="3929062"/>
            <a:ext cx="5314950" cy="3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8" name="Google Shape;268;p21"/>
          <p:cNvSpPr txBox="1"/>
          <p:nvPr/>
        </p:nvSpPr>
        <p:spPr>
          <a:xfrm>
            <a:off x="866775" y="2689026"/>
            <a:ext cx="1510188"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EA5E9"/>
                </a:solidFill>
                <a:latin typeface="Merriweather"/>
                <a:ea typeface="Merriweather"/>
                <a:cs typeface="Merriweather"/>
                <a:sym typeface="Merriweather"/>
              </a:rPr>
              <a:t>O Processo</a:t>
            </a:r>
            <a:endParaRPr/>
          </a:p>
        </p:txBody>
      </p:sp>
      <p:sp>
        <p:nvSpPr>
          <p:cNvPr id="269" name="Google Shape;269;p21"/>
          <p:cNvSpPr txBox="1"/>
          <p:nvPr/>
        </p:nvSpPr>
        <p:spPr>
          <a:xfrm>
            <a:off x="866775" y="3174801"/>
            <a:ext cx="47434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Implementamos uma engine de busca semântica em três etapas:</a:t>
            </a:r>
            <a:endParaRPr/>
          </a:p>
        </p:txBody>
      </p:sp>
      <p:sp>
        <p:nvSpPr>
          <p:cNvPr id="270" name="Google Shape;270;p21"/>
          <p:cNvSpPr/>
          <p:nvPr/>
        </p:nvSpPr>
        <p:spPr>
          <a:xfrm>
            <a:off x="6296025" y="3929062"/>
            <a:ext cx="5314950" cy="3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1" name="Google Shape;271;p21"/>
          <p:cNvSpPr txBox="1"/>
          <p:nvPr/>
        </p:nvSpPr>
        <p:spPr>
          <a:xfrm>
            <a:off x="6581775" y="2689026"/>
            <a:ext cx="2630328"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EA5E9"/>
                </a:solidFill>
                <a:latin typeface="Merriweather"/>
                <a:ea typeface="Merriweather"/>
                <a:cs typeface="Merriweather"/>
                <a:sym typeface="Merriweather"/>
              </a:rPr>
              <a:t>Conceitos de Busca</a:t>
            </a:r>
            <a:endParaRPr/>
          </a:p>
        </p:txBody>
      </p:sp>
      <p:pic>
        <p:nvPicPr>
          <p:cNvPr descr="image.png" id="272" name="Google Shape;272;p21"/>
          <p:cNvPicPr preferRelativeResize="0"/>
          <p:nvPr/>
        </p:nvPicPr>
        <p:blipFill rotWithShape="1">
          <a:blip r:embed="rId9">
            <a:alphaModFix/>
          </a:blip>
          <a:srcRect b="0" l="0" r="0" t="0"/>
          <a:stretch/>
        </p:blipFill>
        <p:spPr>
          <a:xfrm>
            <a:off x="866775" y="2003226"/>
            <a:ext cx="400050" cy="400050"/>
          </a:xfrm>
          <a:prstGeom prst="rect">
            <a:avLst/>
          </a:prstGeom>
          <a:noFill/>
          <a:ln>
            <a:noFill/>
          </a:ln>
        </p:spPr>
      </p:pic>
      <p:sp>
        <p:nvSpPr>
          <p:cNvPr id="273" name="Google Shape;273;p21"/>
          <p:cNvSpPr txBox="1"/>
          <p:nvPr/>
        </p:nvSpPr>
        <p:spPr>
          <a:xfrm>
            <a:off x="923925" y="4070151"/>
            <a:ext cx="13335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Inter"/>
                <a:ea typeface="Inter"/>
                <a:cs typeface="Inter"/>
                <a:sym typeface="Inter"/>
              </a:rPr>
              <a:t>1.</a:t>
            </a:r>
            <a:endParaRPr/>
          </a:p>
        </p:txBody>
      </p:sp>
      <p:sp>
        <p:nvSpPr>
          <p:cNvPr id="274" name="Google Shape;274;p21"/>
          <p:cNvSpPr txBox="1"/>
          <p:nvPr/>
        </p:nvSpPr>
        <p:spPr>
          <a:xfrm>
            <a:off x="1057275" y="4070151"/>
            <a:ext cx="4333875" cy="304800"/>
          </a:xfrm>
          <a:prstGeom prst="rect">
            <a:avLst/>
          </a:prstGeom>
          <a:noFill/>
          <a:ln>
            <a:noFill/>
          </a:ln>
        </p:spPr>
        <p:txBody>
          <a:bodyPr anchorCtr="0" anchor="t" bIns="0" lIns="13335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Transformar a query em embedding (vetorizar).</a:t>
            </a:r>
            <a:endParaRPr/>
          </a:p>
        </p:txBody>
      </p:sp>
      <p:sp>
        <p:nvSpPr>
          <p:cNvPr id="275" name="Google Shape;275;p21"/>
          <p:cNvSpPr txBox="1"/>
          <p:nvPr/>
        </p:nvSpPr>
        <p:spPr>
          <a:xfrm>
            <a:off x="885825" y="4374951"/>
            <a:ext cx="17145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Inter"/>
                <a:ea typeface="Inter"/>
                <a:cs typeface="Inter"/>
                <a:sym typeface="Inter"/>
              </a:rPr>
              <a:t>2.</a:t>
            </a:r>
            <a:endParaRPr/>
          </a:p>
        </p:txBody>
      </p:sp>
      <p:sp>
        <p:nvSpPr>
          <p:cNvPr id="276" name="Google Shape;276;p21"/>
          <p:cNvSpPr txBox="1"/>
          <p:nvPr/>
        </p:nvSpPr>
        <p:spPr>
          <a:xfrm>
            <a:off x="1057275" y="4374951"/>
            <a:ext cx="4333875" cy="304800"/>
          </a:xfrm>
          <a:prstGeom prst="rect">
            <a:avLst/>
          </a:prstGeom>
          <a:noFill/>
          <a:ln>
            <a:noFill/>
          </a:ln>
        </p:spPr>
        <p:txBody>
          <a:bodyPr anchorCtr="0" anchor="t" bIns="0" lIns="17145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Comparar com a base de frases.</a:t>
            </a:r>
            <a:endParaRPr/>
          </a:p>
        </p:txBody>
      </p:sp>
      <p:sp>
        <p:nvSpPr>
          <p:cNvPr id="277" name="Google Shape;277;p21"/>
          <p:cNvSpPr txBox="1"/>
          <p:nvPr/>
        </p:nvSpPr>
        <p:spPr>
          <a:xfrm>
            <a:off x="885825" y="4679751"/>
            <a:ext cx="17145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Inter"/>
                <a:ea typeface="Inter"/>
                <a:cs typeface="Inter"/>
                <a:sym typeface="Inter"/>
              </a:rPr>
              <a:t>3.</a:t>
            </a:r>
            <a:endParaRPr/>
          </a:p>
        </p:txBody>
      </p:sp>
      <p:sp>
        <p:nvSpPr>
          <p:cNvPr id="278" name="Google Shape;278;p21"/>
          <p:cNvSpPr txBox="1"/>
          <p:nvPr/>
        </p:nvSpPr>
        <p:spPr>
          <a:xfrm>
            <a:off x="1057275" y="4679751"/>
            <a:ext cx="4333875" cy="304800"/>
          </a:xfrm>
          <a:prstGeom prst="rect">
            <a:avLst/>
          </a:prstGeom>
          <a:noFill/>
          <a:ln>
            <a:noFill/>
          </a:ln>
        </p:spPr>
        <p:txBody>
          <a:bodyPr anchorCtr="0" anchor="t" bIns="0" lIns="17145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Retornar as métricas mais próximas.</a:t>
            </a:r>
            <a:endParaRPr/>
          </a:p>
        </p:txBody>
      </p:sp>
      <p:pic>
        <p:nvPicPr>
          <p:cNvPr descr="image.png" id="279" name="Google Shape;279;p21"/>
          <p:cNvPicPr preferRelativeResize="0"/>
          <p:nvPr/>
        </p:nvPicPr>
        <p:blipFill rotWithShape="1">
          <a:blip r:embed="rId10">
            <a:alphaModFix/>
          </a:blip>
          <a:srcRect b="0" l="0" r="0" t="0"/>
          <a:stretch/>
        </p:blipFill>
        <p:spPr>
          <a:xfrm>
            <a:off x="6581775" y="2003226"/>
            <a:ext cx="400050" cy="400050"/>
          </a:xfrm>
          <a:prstGeom prst="rect">
            <a:avLst/>
          </a:prstGeom>
          <a:noFill/>
          <a:ln>
            <a:noFill/>
          </a:ln>
        </p:spPr>
      </p:pic>
      <p:sp>
        <p:nvSpPr>
          <p:cNvPr id="280" name="Google Shape;280;p21"/>
          <p:cNvSpPr txBox="1"/>
          <p:nvPr/>
        </p:nvSpPr>
        <p:spPr>
          <a:xfrm>
            <a:off x="6810375" y="3412926"/>
            <a:ext cx="432435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8FAFC"/>
                </a:solidFill>
                <a:latin typeface="Inter"/>
                <a:ea typeface="Inter"/>
                <a:cs typeface="Inter"/>
                <a:sym typeface="Inter"/>
              </a:rPr>
              <a:t>Busca Vetorial</a:t>
            </a:r>
            <a:endParaRPr/>
          </a:p>
        </p:txBody>
      </p:sp>
      <p:sp>
        <p:nvSpPr>
          <p:cNvPr id="281" name="Google Shape;281;p21"/>
          <p:cNvSpPr txBox="1"/>
          <p:nvPr/>
        </p:nvSpPr>
        <p:spPr>
          <a:xfrm>
            <a:off x="6810375" y="3689151"/>
            <a:ext cx="432435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Recuperação baseada em significado e não em palavras-chave exatas.</a:t>
            </a:r>
            <a:endParaRPr/>
          </a:p>
        </p:txBody>
      </p:sp>
      <p:sp>
        <p:nvSpPr>
          <p:cNvPr id="282" name="Google Shape;282;p21"/>
          <p:cNvSpPr txBox="1"/>
          <p:nvPr/>
        </p:nvSpPr>
        <p:spPr>
          <a:xfrm>
            <a:off x="6810375" y="4510087"/>
            <a:ext cx="1647825"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8FAFC"/>
                </a:solidFill>
                <a:latin typeface="Inter"/>
                <a:ea typeface="Inter"/>
                <a:cs typeface="Inter"/>
                <a:sym typeface="Inter"/>
              </a:rPr>
              <a:t>Query</a:t>
            </a:r>
            <a:endParaRPr/>
          </a:p>
        </p:txBody>
      </p:sp>
      <p:sp>
        <p:nvSpPr>
          <p:cNvPr id="283" name="Google Shape;283;p21"/>
          <p:cNvSpPr txBox="1"/>
          <p:nvPr/>
        </p:nvSpPr>
        <p:spPr>
          <a:xfrm>
            <a:off x="6810375" y="4786312"/>
            <a:ext cx="16478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A pergunta do usuário.</a:t>
            </a:r>
            <a:endParaRPr/>
          </a:p>
        </p:txBody>
      </p:sp>
      <p:sp>
        <p:nvSpPr>
          <p:cNvPr id="284" name="Google Shape;284;p21"/>
          <p:cNvSpPr txBox="1"/>
          <p:nvPr/>
        </p:nvSpPr>
        <p:spPr>
          <a:xfrm>
            <a:off x="6810375" y="5315842"/>
            <a:ext cx="2466975"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8FAFC"/>
                </a:solidFill>
                <a:latin typeface="Inter"/>
                <a:ea typeface="Inter"/>
                <a:cs typeface="Inter"/>
                <a:sym typeface="Inter"/>
              </a:rPr>
              <a:t>Top-k</a:t>
            </a:r>
            <a:endParaRPr/>
          </a:p>
        </p:txBody>
      </p:sp>
      <p:sp>
        <p:nvSpPr>
          <p:cNvPr id="285" name="Google Shape;285;p21"/>
          <p:cNvSpPr txBox="1"/>
          <p:nvPr/>
        </p:nvSpPr>
        <p:spPr>
          <a:xfrm>
            <a:off x="6810375" y="5592067"/>
            <a:ext cx="24669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Número de resultados retornados.</a:t>
            </a:r>
            <a:endParaRPr/>
          </a:p>
        </p:txBody>
      </p:sp>
      <p:sp>
        <p:nvSpPr>
          <p:cNvPr id="286" name="Google Shape;286;p21"/>
          <p:cNvSpPr txBox="1"/>
          <p:nvPr/>
        </p:nvSpPr>
        <p:spPr>
          <a:xfrm>
            <a:off x="571500" y="536376"/>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Merriweather"/>
                <a:ea typeface="Merriweather"/>
                <a:cs typeface="Merriweather"/>
                <a:sym typeface="Merriweather"/>
              </a:rPr>
              <a:t>Busca Vetorial (Semantic Search)</a:t>
            </a:r>
            <a:endParaRPr/>
          </a:p>
        </p:txBody>
      </p:sp>
      <p:sp>
        <p:nvSpPr>
          <p:cNvPr id="287" name="Google Shape;287;p21"/>
          <p:cNvSpPr/>
          <p:nvPr/>
        </p:nvSpPr>
        <p:spPr>
          <a:xfrm>
            <a:off x="571500" y="1174551"/>
            <a:ext cx="11049000" cy="19050"/>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91" name="Shape 291"/>
        <p:cNvGrpSpPr/>
        <p:nvPr/>
      </p:nvGrpSpPr>
      <p:grpSpPr>
        <a:xfrm>
          <a:off x="0" y="0"/>
          <a:ext cx="0" cy="0"/>
          <a:chOff x="0" y="0"/>
          <a:chExt cx="0" cy="0"/>
        </a:xfrm>
      </p:grpSpPr>
      <p:pic>
        <p:nvPicPr>
          <p:cNvPr descr="image.png" id="292" name="Google Shape;292;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93" name="Google Shape;293;p22"/>
          <p:cNvPicPr preferRelativeResize="0"/>
          <p:nvPr/>
        </p:nvPicPr>
        <p:blipFill rotWithShape="1">
          <a:blip r:embed="rId4">
            <a:alphaModFix/>
          </a:blip>
          <a:srcRect b="0" l="0" r="0" t="0"/>
          <a:stretch/>
        </p:blipFill>
        <p:spPr>
          <a:xfrm>
            <a:off x="571500" y="2420242"/>
            <a:ext cx="3429000" cy="3676650"/>
          </a:xfrm>
          <a:prstGeom prst="rect">
            <a:avLst/>
          </a:prstGeom>
          <a:noFill/>
          <a:ln>
            <a:noFill/>
          </a:ln>
        </p:spPr>
      </p:pic>
      <p:pic>
        <p:nvPicPr>
          <p:cNvPr descr="image.png" id="294" name="Google Shape;294;p22"/>
          <p:cNvPicPr preferRelativeResize="0"/>
          <p:nvPr/>
        </p:nvPicPr>
        <p:blipFill rotWithShape="1">
          <a:blip r:embed="rId5">
            <a:alphaModFix/>
          </a:blip>
          <a:srcRect b="0" l="0" r="0" t="0"/>
          <a:stretch/>
        </p:blipFill>
        <p:spPr>
          <a:xfrm>
            <a:off x="4381500" y="2420242"/>
            <a:ext cx="3429000" cy="3676650"/>
          </a:xfrm>
          <a:prstGeom prst="rect">
            <a:avLst/>
          </a:prstGeom>
          <a:noFill/>
          <a:ln>
            <a:noFill/>
          </a:ln>
        </p:spPr>
      </p:pic>
      <p:pic>
        <p:nvPicPr>
          <p:cNvPr descr="image.png" id="295" name="Google Shape;295;p22"/>
          <p:cNvPicPr preferRelativeResize="0"/>
          <p:nvPr/>
        </p:nvPicPr>
        <p:blipFill rotWithShape="1">
          <a:blip r:embed="rId6">
            <a:alphaModFix/>
          </a:blip>
          <a:srcRect b="0" l="0" r="0" t="0"/>
          <a:stretch/>
        </p:blipFill>
        <p:spPr>
          <a:xfrm>
            <a:off x="8191500" y="2420242"/>
            <a:ext cx="3429000" cy="3676650"/>
          </a:xfrm>
          <a:prstGeom prst="rect">
            <a:avLst/>
          </a:prstGeom>
          <a:noFill/>
          <a:ln>
            <a:noFill/>
          </a:ln>
        </p:spPr>
      </p:pic>
      <p:sp>
        <p:nvSpPr>
          <p:cNvPr id="296" name="Google Shape;296;p22"/>
          <p:cNvSpPr txBox="1"/>
          <p:nvPr/>
        </p:nvSpPr>
        <p:spPr>
          <a:xfrm>
            <a:off x="571500" y="1799332"/>
            <a:ext cx="1104900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Inter"/>
                <a:ea typeface="Inter"/>
                <a:cs typeface="Inter"/>
                <a:sym typeface="Inter"/>
              </a:rPr>
              <a:t>A busca pelas mesmas "queries" revelou constrastes e prioridades políticas interessantes:</a:t>
            </a:r>
            <a:endParaRPr/>
          </a:p>
        </p:txBody>
      </p:sp>
      <p:sp>
        <p:nvSpPr>
          <p:cNvPr id="297" name="Google Shape;297;p22"/>
          <p:cNvSpPr/>
          <p:nvPr/>
        </p:nvSpPr>
        <p:spPr>
          <a:xfrm>
            <a:off x="581025" y="4239517"/>
            <a:ext cx="3409950" cy="3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8" name="Google Shape;298;p22"/>
          <p:cNvSpPr txBox="1"/>
          <p:nvPr/>
        </p:nvSpPr>
        <p:spPr>
          <a:xfrm>
            <a:off x="866775" y="3534667"/>
            <a:ext cx="1390173"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EA5E9"/>
                </a:solidFill>
                <a:latin typeface="Merriweather"/>
                <a:ea typeface="Merriweather"/>
                <a:cs typeface="Merriweather"/>
                <a:sym typeface="Merriweather"/>
              </a:rPr>
              <a:t>Economia</a:t>
            </a:r>
            <a:endParaRPr/>
          </a:p>
        </p:txBody>
      </p:sp>
      <p:sp>
        <p:nvSpPr>
          <p:cNvPr id="299" name="Google Shape;299;p22"/>
          <p:cNvSpPr txBox="1"/>
          <p:nvPr/>
        </p:nvSpPr>
        <p:spPr>
          <a:xfrm>
            <a:off x="866775" y="4020442"/>
            <a:ext cx="18669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Foco de abordagem:</a:t>
            </a:r>
            <a:endParaRPr/>
          </a:p>
        </p:txBody>
      </p:sp>
      <p:sp>
        <p:nvSpPr>
          <p:cNvPr id="300" name="Google Shape;300;p22"/>
          <p:cNvSpPr/>
          <p:nvPr/>
        </p:nvSpPr>
        <p:spPr>
          <a:xfrm>
            <a:off x="4391025" y="4239517"/>
            <a:ext cx="3409950" cy="3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1" name="Google Shape;301;p22"/>
          <p:cNvSpPr txBox="1"/>
          <p:nvPr/>
        </p:nvSpPr>
        <p:spPr>
          <a:xfrm>
            <a:off x="4676775" y="3534667"/>
            <a:ext cx="1420177"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EA5E9"/>
                </a:solidFill>
                <a:latin typeface="Merriweather"/>
                <a:ea typeface="Merriweather"/>
                <a:cs typeface="Merriweather"/>
                <a:sym typeface="Merriweather"/>
              </a:rPr>
              <a:t>Imigração</a:t>
            </a:r>
            <a:endParaRPr/>
          </a:p>
        </p:txBody>
      </p:sp>
      <p:sp>
        <p:nvSpPr>
          <p:cNvPr id="302" name="Google Shape;302;p22"/>
          <p:cNvSpPr txBox="1"/>
          <p:nvPr/>
        </p:nvSpPr>
        <p:spPr>
          <a:xfrm>
            <a:off x="4676775" y="4020442"/>
            <a:ext cx="18669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Foco de abordagem:</a:t>
            </a:r>
            <a:endParaRPr/>
          </a:p>
        </p:txBody>
      </p:sp>
      <p:sp>
        <p:nvSpPr>
          <p:cNvPr id="303" name="Google Shape;303;p22"/>
          <p:cNvSpPr/>
          <p:nvPr/>
        </p:nvSpPr>
        <p:spPr>
          <a:xfrm>
            <a:off x="8201025" y="4239517"/>
            <a:ext cx="3409950" cy="3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4" name="Google Shape;304;p22"/>
          <p:cNvSpPr txBox="1"/>
          <p:nvPr/>
        </p:nvSpPr>
        <p:spPr>
          <a:xfrm>
            <a:off x="8486775" y="3534667"/>
            <a:ext cx="1740217"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EA5E9"/>
                </a:solidFill>
                <a:latin typeface="Merriweather"/>
                <a:ea typeface="Merriweather"/>
                <a:cs typeface="Merriweather"/>
                <a:sym typeface="Merriweather"/>
              </a:rPr>
              <a:t>Paz e Guerra</a:t>
            </a:r>
            <a:endParaRPr/>
          </a:p>
        </p:txBody>
      </p:sp>
      <p:sp>
        <p:nvSpPr>
          <p:cNvPr id="305" name="Google Shape;305;p22"/>
          <p:cNvSpPr txBox="1"/>
          <p:nvPr/>
        </p:nvSpPr>
        <p:spPr>
          <a:xfrm>
            <a:off x="8486775" y="4020442"/>
            <a:ext cx="18669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Foco de abordagem:</a:t>
            </a:r>
            <a:endParaRPr/>
          </a:p>
        </p:txBody>
      </p:sp>
      <p:pic>
        <p:nvPicPr>
          <p:cNvPr descr="image.png" id="306" name="Google Shape;306;p22"/>
          <p:cNvPicPr preferRelativeResize="0"/>
          <p:nvPr/>
        </p:nvPicPr>
        <p:blipFill rotWithShape="1">
          <a:blip r:embed="rId7">
            <a:alphaModFix/>
          </a:blip>
          <a:srcRect b="0" l="0" r="0" t="0"/>
          <a:stretch/>
        </p:blipFill>
        <p:spPr>
          <a:xfrm>
            <a:off x="866775" y="2848867"/>
            <a:ext cx="400050" cy="400050"/>
          </a:xfrm>
          <a:prstGeom prst="rect">
            <a:avLst/>
          </a:prstGeom>
          <a:noFill/>
          <a:ln>
            <a:noFill/>
          </a:ln>
        </p:spPr>
      </p:pic>
      <p:sp>
        <p:nvSpPr>
          <p:cNvPr id="307" name="Google Shape;307;p22"/>
          <p:cNvSpPr txBox="1"/>
          <p:nvPr/>
        </p:nvSpPr>
        <p:spPr>
          <a:xfrm>
            <a:off x="866775" y="4753867"/>
            <a:ext cx="949374"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EA5E9"/>
                </a:solidFill>
                <a:latin typeface="Inter"/>
                <a:ea typeface="Inter"/>
                <a:cs typeface="Inter"/>
                <a:sym typeface="Inter"/>
              </a:rPr>
              <a:t>Obama:</a:t>
            </a:r>
            <a:endParaRPr/>
          </a:p>
        </p:txBody>
      </p:sp>
      <p:sp>
        <p:nvSpPr>
          <p:cNvPr id="308" name="Google Shape;308;p22"/>
          <p:cNvSpPr txBox="1"/>
          <p:nvPr/>
        </p:nvSpPr>
        <p:spPr>
          <a:xfrm>
            <a:off x="1816149" y="4658617"/>
            <a:ext cx="1889075"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Inovação e inclusão social</a:t>
            </a:r>
            <a:endParaRPr/>
          </a:p>
        </p:txBody>
      </p:sp>
      <p:sp>
        <p:nvSpPr>
          <p:cNvPr id="309" name="Google Shape;309;p22"/>
          <p:cNvSpPr txBox="1"/>
          <p:nvPr/>
        </p:nvSpPr>
        <p:spPr>
          <a:xfrm>
            <a:off x="866775" y="5277742"/>
            <a:ext cx="763041"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F43F5E"/>
                </a:solidFill>
                <a:latin typeface="Inter"/>
                <a:ea typeface="Inter"/>
                <a:cs typeface="Inter"/>
                <a:sym typeface="Inter"/>
              </a:rPr>
              <a:t>Trump:</a:t>
            </a:r>
            <a:endParaRPr/>
          </a:p>
        </p:txBody>
      </p:sp>
      <p:sp>
        <p:nvSpPr>
          <p:cNvPr id="310" name="Google Shape;310;p22"/>
          <p:cNvSpPr txBox="1"/>
          <p:nvPr/>
        </p:nvSpPr>
        <p:spPr>
          <a:xfrm>
            <a:off x="1629816" y="5182492"/>
            <a:ext cx="2075408"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Crescimento direto e oportunidades</a:t>
            </a:r>
            <a:endParaRPr/>
          </a:p>
        </p:txBody>
      </p:sp>
      <p:pic>
        <p:nvPicPr>
          <p:cNvPr descr="image.png" id="311" name="Google Shape;311;p22"/>
          <p:cNvPicPr preferRelativeResize="0"/>
          <p:nvPr/>
        </p:nvPicPr>
        <p:blipFill rotWithShape="1">
          <a:blip r:embed="rId8">
            <a:alphaModFix/>
          </a:blip>
          <a:srcRect b="0" l="0" r="0" t="0"/>
          <a:stretch/>
        </p:blipFill>
        <p:spPr>
          <a:xfrm>
            <a:off x="4676775" y="2848867"/>
            <a:ext cx="352425" cy="400050"/>
          </a:xfrm>
          <a:prstGeom prst="rect">
            <a:avLst/>
          </a:prstGeom>
          <a:noFill/>
          <a:ln>
            <a:noFill/>
          </a:ln>
        </p:spPr>
      </p:pic>
      <p:sp>
        <p:nvSpPr>
          <p:cNvPr id="312" name="Google Shape;312;p22"/>
          <p:cNvSpPr txBox="1"/>
          <p:nvPr/>
        </p:nvSpPr>
        <p:spPr>
          <a:xfrm>
            <a:off x="4676775" y="4753867"/>
            <a:ext cx="889843"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EA5E9"/>
                </a:solidFill>
                <a:latin typeface="Inter"/>
                <a:ea typeface="Inter"/>
                <a:cs typeface="Inter"/>
                <a:sym typeface="Inter"/>
              </a:rPr>
              <a:t>Obama:</a:t>
            </a:r>
            <a:endParaRPr/>
          </a:p>
        </p:txBody>
      </p:sp>
      <p:sp>
        <p:nvSpPr>
          <p:cNvPr id="313" name="Google Shape;313;p22"/>
          <p:cNvSpPr txBox="1"/>
          <p:nvPr/>
        </p:nvSpPr>
        <p:spPr>
          <a:xfrm>
            <a:off x="5566618" y="4658617"/>
            <a:ext cx="1948606"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Justiça e sistema equilibrado</a:t>
            </a:r>
            <a:endParaRPr/>
          </a:p>
        </p:txBody>
      </p:sp>
      <p:sp>
        <p:nvSpPr>
          <p:cNvPr id="314" name="Google Shape;314;p22"/>
          <p:cNvSpPr txBox="1"/>
          <p:nvPr/>
        </p:nvSpPr>
        <p:spPr>
          <a:xfrm>
            <a:off x="4676775" y="5277742"/>
            <a:ext cx="895350"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F43F5E"/>
                </a:solidFill>
                <a:latin typeface="Inter"/>
                <a:ea typeface="Inter"/>
                <a:cs typeface="Inter"/>
                <a:sym typeface="Inter"/>
              </a:rPr>
              <a:t>Trump:</a:t>
            </a:r>
            <a:endParaRPr/>
          </a:p>
        </p:txBody>
      </p:sp>
      <p:sp>
        <p:nvSpPr>
          <p:cNvPr id="315" name="Google Shape;315;p22"/>
          <p:cNvSpPr txBox="1"/>
          <p:nvPr/>
        </p:nvSpPr>
        <p:spPr>
          <a:xfrm>
            <a:off x="5572125" y="5182492"/>
            <a:ext cx="1943100"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Proteção rígida de fronteiras</a:t>
            </a:r>
            <a:endParaRPr/>
          </a:p>
        </p:txBody>
      </p:sp>
      <p:pic>
        <p:nvPicPr>
          <p:cNvPr descr="image.png" id="316" name="Google Shape;316;p22"/>
          <p:cNvPicPr preferRelativeResize="0"/>
          <p:nvPr/>
        </p:nvPicPr>
        <p:blipFill rotWithShape="1">
          <a:blip r:embed="rId9">
            <a:alphaModFix/>
          </a:blip>
          <a:srcRect b="0" l="0" r="0" t="0"/>
          <a:stretch/>
        </p:blipFill>
        <p:spPr>
          <a:xfrm>
            <a:off x="8486775" y="2848867"/>
            <a:ext cx="400050" cy="400050"/>
          </a:xfrm>
          <a:prstGeom prst="rect">
            <a:avLst/>
          </a:prstGeom>
          <a:noFill/>
          <a:ln>
            <a:noFill/>
          </a:ln>
        </p:spPr>
      </p:pic>
      <p:sp>
        <p:nvSpPr>
          <p:cNvPr id="317" name="Google Shape;317;p22"/>
          <p:cNvSpPr txBox="1"/>
          <p:nvPr/>
        </p:nvSpPr>
        <p:spPr>
          <a:xfrm>
            <a:off x="8486775" y="4753867"/>
            <a:ext cx="870644"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EA5E9"/>
                </a:solidFill>
                <a:latin typeface="Inter"/>
                <a:ea typeface="Inter"/>
                <a:cs typeface="Inter"/>
                <a:sym typeface="Inter"/>
              </a:rPr>
              <a:t>Obama:</a:t>
            </a:r>
            <a:endParaRPr/>
          </a:p>
        </p:txBody>
      </p:sp>
      <p:sp>
        <p:nvSpPr>
          <p:cNvPr id="318" name="Google Shape;318;p22"/>
          <p:cNvSpPr txBox="1"/>
          <p:nvPr/>
        </p:nvSpPr>
        <p:spPr>
          <a:xfrm>
            <a:off x="9357419" y="4658617"/>
            <a:ext cx="1967805"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Diplomacia e acordos mútuos</a:t>
            </a:r>
            <a:endParaRPr/>
          </a:p>
        </p:txBody>
      </p:sp>
      <p:sp>
        <p:nvSpPr>
          <p:cNvPr id="319" name="Google Shape;319;p22"/>
          <p:cNvSpPr txBox="1"/>
          <p:nvPr/>
        </p:nvSpPr>
        <p:spPr>
          <a:xfrm>
            <a:off x="8486775" y="5277742"/>
            <a:ext cx="887015"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F43F5E"/>
                </a:solidFill>
                <a:latin typeface="Inter"/>
                <a:ea typeface="Inter"/>
                <a:cs typeface="Inter"/>
                <a:sym typeface="Inter"/>
              </a:rPr>
              <a:t>Trump:</a:t>
            </a:r>
            <a:endParaRPr/>
          </a:p>
        </p:txBody>
      </p:sp>
      <p:sp>
        <p:nvSpPr>
          <p:cNvPr id="320" name="Google Shape;320;p22"/>
          <p:cNvSpPr txBox="1"/>
          <p:nvPr/>
        </p:nvSpPr>
        <p:spPr>
          <a:xfrm>
            <a:off x="9373790" y="5182492"/>
            <a:ext cx="1951434"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Força e demonstração militar</a:t>
            </a:r>
            <a:endParaRPr/>
          </a:p>
        </p:txBody>
      </p:sp>
      <p:sp>
        <p:nvSpPr>
          <p:cNvPr id="321" name="Google Shape;321;p22"/>
          <p:cNvSpPr txBox="1"/>
          <p:nvPr/>
        </p:nvSpPr>
        <p:spPr>
          <a:xfrm>
            <a:off x="571500" y="57150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Merriweather"/>
                <a:ea typeface="Merriweather"/>
                <a:cs typeface="Merriweather"/>
                <a:sym typeface="Merriweather"/>
              </a:rPr>
              <a:t>Contrastes Temáticos (Busca Semântica)</a:t>
            </a:r>
            <a:endParaRPr/>
          </a:p>
        </p:txBody>
      </p:sp>
      <p:sp>
        <p:nvSpPr>
          <p:cNvPr id="322" name="Google Shape;322;p22"/>
          <p:cNvSpPr/>
          <p:nvPr/>
        </p:nvSpPr>
        <p:spPr>
          <a:xfrm>
            <a:off x="571500" y="1209675"/>
            <a:ext cx="11049000" cy="19050"/>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3"/>
          <p:cNvSpPr txBox="1"/>
          <p:nvPr/>
        </p:nvSpPr>
        <p:spPr>
          <a:xfrm>
            <a:off x="721900" y="6858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Relação com Arquiteturas RAG</a:t>
            </a:r>
            <a:endParaRPr/>
          </a:p>
        </p:txBody>
      </p:sp>
      <p:sp>
        <p:nvSpPr>
          <p:cNvPr id="328" name="Google Shape;328;p23"/>
          <p:cNvSpPr txBox="1"/>
          <p:nvPr/>
        </p:nvSpPr>
        <p:spPr>
          <a:xfrm>
            <a:off x="7182850" y="2231400"/>
            <a:ext cx="3000000" cy="175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100"/>
              </a:spcBef>
              <a:spcAft>
                <a:spcPts val="0"/>
              </a:spcAft>
              <a:buNone/>
            </a:pPr>
            <a:r>
              <a:rPr b="1" lang="en-US" sz="1100">
                <a:solidFill>
                  <a:schemeClr val="dk1"/>
                </a:solidFill>
              </a:rPr>
              <a:t>Implementado</a:t>
            </a:r>
            <a:endParaRPr b="1" sz="1100">
              <a:solidFill>
                <a:schemeClr val="dk1"/>
              </a:solidFill>
            </a:endParaRPr>
          </a:p>
          <a:p>
            <a:pPr indent="0" lvl="0" marL="0" rtl="0" algn="l">
              <a:lnSpc>
                <a:spcPct val="115000"/>
              </a:lnSpc>
              <a:spcBef>
                <a:spcPts val="1100"/>
              </a:spcBef>
              <a:spcAft>
                <a:spcPts val="0"/>
              </a:spcAft>
              <a:buNone/>
            </a:pPr>
            <a:r>
              <a:rPr lang="en-US" sz="1100">
                <a:solidFill>
                  <a:schemeClr val="dk1"/>
                </a:solidFill>
              </a:rPr>
              <a:t>• embeddings semânticos</a:t>
            </a:r>
            <a:br>
              <a:rPr lang="en-US" sz="1100">
                <a:solidFill>
                  <a:schemeClr val="dk1"/>
                </a:solidFill>
              </a:rPr>
            </a:br>
            <a:r>
              <a:rPr lang="en-US" sz="1100">
                <a:solidFill>
                  <a:schemeClr val="dk1"/>
                </a:solidFill>
              </a:rPr>
              <a:t> • vector search</a:t>
            </a:r>
            <a:br>
              <a:rPr lang="en-US" sz="1100">
                <a:solidFill>
                  <a:schemeClr val="dk1"/>
                </a:solidFill>
              </a:rPr>
            </a:br>
            <a:r>
              <a:rPr lang="en-US" sz="1100">
                <a:solidFill>
                  <a:schemeClr val="dk1"/>
                </a:solidFill>
              </a:rPr>
              <a:t> • retrieval de evidências</a:t>
            </a:r>
            <a:endParaRPr sz="1100">
              <a:solidFill>
                <a:schemeClr val="dk1"/>
              </a:solidFill>
            </a:endParaRPr>
          </a:p>
          <a:p>
            <a:pPr indent="0" lvl="0" marL="0" rtl="0" algn="l">
              <a:lnSpc>
                <a:spcPct val="115000"/>
              </a:lnSpc>
              <a:spcBef>
                <a:spcPts val="1100"/>
              </a:spcBef>
              <a:spcAft>
                <a:spcPts val="0"/>
              </a:spcAft>
              <a:buNone/>
            </a:pPr>
            <a:r>
              <a:rPr b="1" lang="en-US" sz="1100">
                <a:solidFill>
                  <a:schemeClr val="dk1"/>
                </a:solidFill>
              </a:rPr>
              <a:t>Não implementado</a:t>
            </a:r>
            <a:endParaRPr b="1" sz="1100">
              <a:solidFill>
                <a:schemeClr val="dk1"/>
              </a:solidFill>
            </a:endParaRPr>
          </a:p>
          <a:p>
            <a:pPr indent="0" lvl="0" marL="0" rtl="0" algn="l">
              <a:lnSpc>
                <a:spcPct val="115000"/>
              </a:lnSpc>
              <a:spcBef>
                <a:spcPts val="1100"/>
              </a:spcBef>
              <a:spcAft>
                <a:spcPts val="1100"/>
              </a:spcAft>
              <a:buNone/>
            </a:pPr>
            <a:r>
              <a:rPr lang="en-US" sz="1100">
                <a:solidFill>
                  <a:schemeClr val="dk1"/>
                </a:solidFill>
              </a:rPr>
              <a:t>• geração com LLM</a:t>
            </a:r>
            <a:endParaRPr sz="1100">
              <a:solidFill>
                <a:schemeClr val="dk1"/>
              </a:solidFill>
            </a:endParaRPr>
          </a:p>
        </p:txBody>
      </p:sp>
      <p:sp>
        <p:nvSpPr>
          <p:cNvPr id="329" name="Google Shape;329;p23"/>
          <p:cNvSpPr txBox="1"/>
          <p:nvPr/>
        </p:nvSpPr>
        <p:spPr>
          <a:xfrm>
            <a:off x="1046750" y="2290950"/>
            <a:ext cx="3000000" cy="227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100"/>
              </a:spcBef>
              <a:spcAft>
                <a:spcPts val="0"/>
              </a:spcAft>
              <a:buNone/>
            </a:pPr>
            <a:r>
              <a:rPr lang="en-US"/>
              <a:t>Pipeline utilizado:</a:t>
            </a:r>
            <a:endParaRPr/>
          </a:p>
          <a:p>
            <a:pPr indent="0" lvl="0" marL="0" rtl="0" algn="l">
              <a:lnSpc>
                <a:spcPct val="115000"/>
              </a:lnSpc>
              <a:spcBef>
                <a:spcPts val="1100"/>
              </a:spcBef>
              <a:spcAft>
                <a:spcPts val="1100"/>
              </a:spcAft>
              <a:buNone/>
            </a:pPr>
            <a:r>
              <a:rPr lang="en-US"/>
              <a:t>Consulta</a:t>
            </a:r>
            <a:br>
              <a:rPr lang="en-US"/>
            </a:br>
            <a:r>
              <a:rPr lang="en-US"/>
              <a:t> ↓</a:t>
            </a:r>
            <a:br>
              <a:rPr lang="en-US"/>
            </a:br>
            <a:r>
              <a:rPr lang="en-US"/>
              <a:t> Embedding (Transformer)</a:t>
            </a:r>
            <a:br>
              <a:rPr lang="en-US"/>
            </a:br>
            <a:r>
              <a:rPr lang="en-US"/>
              <a:t> ↓</a:t>
            </a:r>
            <a:br>
              <a:rPr lang="en-US"/>
            </a:br>
            <a:r>
              <a:rPr lang="en-US"/>
              <a:t> Busca vetorial</a:t>
            </a:r>
            <a:br>
              <a:rPr lang="en-US"/>
            </a:br>
            <a:r>
              <a:rPr lang="en-US"/>
              <a:t> ↓</a:t>
            </a:r>
            <a:br>
              <a:rPr lang="en-US"/>
            </a:br>
            <a:r>
              <a:rPr lang="en-US"/>
              <a:t> Recuperação de frases relevantes</a:t>
            </a:r>
            <a:endParaRPr/>
          </a:p>
        </p:txBody>
      </p:sp>
      <p:pic>
        <p:nvPicPr>
          <p:cNvPr descr="Beautify this slide" id="330" name="Google Shape;330;p23"/>
          <p:cNvPicPr preferRelativeResize="0"/>
          <p:nvPr/>
        </p:nvPicPr>
        <p:blipFill>
          <a:blip r:embed="rId3">
            <a:alphaModFix/>
          </a:blip>
          <a:stretch>
            <a:fillRect/>
          </a:stretch>
        </p:blipFill>
        <p:spPr>
          <a:xfrm>
            <a:off x="-81253" y="0"/>
            <a:ext cx="12622950" cy="7026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34" name="Shape 334"/>
        <p:cNvGrpSpPr/>
        <p:nvPr/>
      </p:nvGrpSpPr>
      <p:grpSpPr>
        <a:xfrm>
          <a:off x="0" y="0"/>
          <a:ext cx="0" cy="0"/>
          <a:chOff x="0" y="0"/>
          <a:chExt cx="0" cy="0"/>
        </a:xfrm>
      </p:grpSpPr>
      <p:pic>
        <p:nvPicPr>
          <p:cNvPr descr="image.png" id="335" name="Google Shape;335;p24"/>
          <p:cNvPicPr preferRelativeResize="0"/>
          <p:nvPr/>
        </p:nvPicPr>
        <p:blipFill rotWithShape="1">
          <a:blip r:embed="rId3">
            <a:alphaModFix/>
          </a:blip>
          <a:srcRect b="0" l="0" r="0" t="0"/>
          <a:stretch/>
        </p:blipFill>
        <p:spPr>
          <a:xfrm>
            <a:off x="0" y="172200"/>
            <a:ext cx="12192000" cy="6858000"/>
          </a:xfrm>
          <a:prstGeom prst="rect">
            <a:avLst/>
          </a:prstGeom>
          <a:noFill/>
          <a:ln>
            <a:noFill/>
          </a:ln>
        </p:spPr>
      </p:pic>
      <p:pic>
        <p:nvPicPr>
          <p:cNvPr descr="image.png" id="336" name="Google Shape;336;p24"/>
          <p:cNvPicPr preferRelativeResize="0"/>
          <p:nvPr/>
        </p:nvPicPr>
        <p:blipFill rotWithShape="1">
          <a:blip r:embed="rId4">
            <a:alphaModFix/>
          </a:blip>
          <a:srcRect b="0" l="0" r="0" t="0"/>
          <a:stretch/>
        </p:blipFill>
        <p:spPr>
          <a:xfrm>
            <a:off x="571500" y="1038230"/>
            <a:ext cx="5286375" cy="6164312"/>
          </a:xfrm>
          <a:prstGeom prst="rect">
            <a:avLst/>
          </a:prstGeom>
          <a:noFill/>
          <a:ln>
            <a:noFill/>
          </a:ln>
        </p:spPr>
      </p:pic>
      <p:pic>
        <p:nvPicPr>
          <p:cNvPr descr="image.png" id="337" name="Google Shape;337;p24"/>
          <p:cNvPicPr preferRelativeResize="0"/>
          <p:nvPr/>
        </p:nvPicPr>
        <p:blipFill rotWithShape="1">
          <a:blip r:embed="rId5">
            <a:alphaModFix/>
          </a:blip>
          <a:srcRect b="0" l="0" r="0" t="0"/>
          <a:stretch/>
        </p:blipFill>
        <p:spPr>
          <a:xfrm>
            <a:off x="6334125" y="1038230"/>
            <a:ext cx="5286375" cy="6164312"/>
          </a:xfrm>
          <a:prstGeom prst="rect">
            <a:avLst/>
          </a:prstGeom>
          <a:noFill/>
          <a:ln>
            <a:noFill/>
          </a:ln>
        </p:spPr>
      </p:pic>
      <p:pic>
        <p:nvPicPr>
          <p:cNvPr descr="image.png" id="338" name="Google Shape;338;p24"/>
          <p:cNvPicPr preferRelativeResize="0"/>
          <p:nvPr/>
        </p:nvPicPr>
        <p:blipFill rotWithShape="1">
          <a:blip r:embed="rId6">
            <a:alphaModFix/>
          </a:blip>
          <a:srcRect b="0" l="0" r="0" t="0"/>
          <a:stretch/>
        </p:blipFill>
        <p:spPr>
          <a:xfrm>
            <a:off x="6724650" y="2809880"/>
            <a:ext cx="4505325" cy="2028676"/>
          </a:xfrm>
          <a:prstGeom prst="rect">
            <a:avLst/>
          </a:prstGeom>
          <a:noFill/>
          <a:ln>
            <a:noFill/>
          </a:ln>
        </p:spPr>
      </p:pic>
      <p:sp>
        <p:nvSpPr>
          <p:cNvPr id="339" name="Google Shape;339;p24"/>
          <p:cNvSpPr txBox="1"/>
          <p:nvPr/>
        </p:nvSpPr>
        <p:spPr>
          <a:xfrm>
            <a:off x="962025" y="1428755"/>
            <a:ext cx="47307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EA5E9"/>
                </a:solidFill>
                <a:latin typeface="Merriweather"/>
                <a:ea typeface="Merriweather"/>
                <a:cs typeface="Merriweather"/>
                <a:sym typeface="Merriweather"/>
              </a:rPr>
              <a:t>Principais Resultados</a:t>
            </a:r>
            <a:endParaRPr/>
          </a:p>
        </p:txBody>
      </p:sp>
      <p:sp>
        <p:nvSpPr>
          <p:cNvPr id="340" name="Google Shape;340;p24"/>
          <p:cNvSpPr/>
          <p:nvPr/>
        </p:nvSpPr>
        <p:spPr>
          <a:xfrm>
            <a:off x="962025" y="5324480"/>
            <a:ext cx="4505400" cy="96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1" name="Google Shape;341;p24"/>
          <p:cNvSpPr txBox="1"/>
          <p:nvPr/>
        </p:nvSpPr>
        <p:spPr>
          <a:xfrm>
            <a:off x="962025" y="5572130"/>
            <a:ext cx="4505400" cy="11634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1" i="0" lang="en-US" sz="1800" u="none" cap="none" strike="noStrike">
                <a:solidFill>
                  <a:srgbClr val="F8FAFC"/>
                </a:solidFill>
                <a:latin typeface="Inter"/>
                <a:ea typeface="Inter"/>
                <a:cs typeface="Inter"/>
                <a:sym typeface="Inter"/>
              </a:rPr>
              <a:t>Técnicas simples de NLP já revelam diferenças significativas e estruturais em discursos políticos.</a:t>
            </a:r>
            <a:endParaRPr/>
          </a:p>
        </p:txBody>
      </p:sp>
      <p:sp>
        <p:nvSpPr>
          <p:cNvPr id="342" name="Google Shape;342;p24"/>
          <p:cNvSpPr txBox="1"/>
          <p:nvPr/>
        </p:nvSpPr>
        <p:spPr>
          <a:xfrm>
            <a:off x="6724650" y="1428755"/>
            <a:ext cx="47307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EA5E9"/>
                </a:solidFill>
                <a:latin typeface="Merriweather"/>
                <a:ea typeface="Merriweather"/>
                <a:cs typeface="Merriweather"/>
                <a:sym typeface="Merriweather"/>
              </a:rPr>
              <a:t>Aplicações Futuras</a:t>
            </a:r>
            <a:endParaRPr/>
          </a:p>
        </p:txBody>
      </p:sp>
      <p:sp>
        <p:nvSpPr>
          <p:cNvPr id="343" name="Google Shape;343;p24"/>
          <p:cNvSpPr txBox="1"/>
          <p:nvPr/>
        </p:nvSpPr>
        <p:spPr>
          <a:xfrm>
            <a:off x="6724650" y="1914530"/>
            <a:ext cx="45054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Técnicas de análise vetorial abrem caminho para arquiteturas generativas complexas.</a:t>
            </a:r>
            <a:endParaRPr/>
          </a:p>
        </p:txBody>
      </p:sp>
      <p:sp>
        <p:nvSpPr>
          <p:cNvPr id="344" name="Google Shape;344;p24"/>
          <p:cNvSpPr txBox="1"/>
          <p:nvPr/>
        </p:nvSpPr>
        <p:spPr>
          <a:xfrm>
            <a:off x="1095375" y="1914530"/>
            <a:ext cx="1047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Inter"/>
                <a:ea typeface="Inter"/>
                <a:cs typeface="Inter"/>
                <a:sym typeface="Inter"/>
              </a:rPr>
              <a:t>•</a:t>
            </a:r>
            <a:endParaRPr/>
          </a:p>
        </p:txBody>
      </p:sp>
      <p:sp>
        <p:nvSpPr>
          <p:cNvPr id="345" name="Google Shape;345;p24"/>
          <p:cNvSpPr txBox="1"/>
          <p:nvPr/>
        </p:nvSpPr>
        <p:spPr>
          <a:xfrm>
            <a:off x="1200150" y="1914530"/>
            <a:ext cx="4267200" cy="6003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Inter"/>
                <a:ea typeface="Inter"/>
                <a:cs typeface="Inter"/>
                <a:sym typeface="Inter"/>
              </a:rPr>
              <a:t>UMAP</a:t>
            </a:r>
            <a:r>
              <a:rPr b="0" i="0" lang="en-US" sz="1500" u="none" cap="none" strike="noStrike">
                <a:solidFill>
                  <a:srgbClr val="CBD5E1"/>
                </a:solidFill>
                <a:latin typeface="Inter"/>
                <a:ea typeface="Inter"/>
                <a:cs typeface="Inter"/>
                <a:sym typeface="Inter"/>
              </a:rPr>
              <a:t> mostrou clara separação visual e estrutural entre os autores.</a:t>
            </a:r>
            <a:endParaRPr/>
          </a:p>
        </p:txBody>
      </p:sp>
      <p:sp>
        <p:nvSpPr>
          <p:cNvPr id="346" name="Google Shape;346;p24"/>
          <p:cNvSpPr txBox="1"/>
          <p:nvPr/>
        </p:nvSpPr>
        <p:spPr>
          <a:xfrm>
            <a:off x="1095375" y="2667005"/>
            <a:ext cx="1047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Inter"/>
                <a:ea typeface="Inter"/>
                <a:cs typeface="Inter"/>
                <a:sym typeface="Inter"/>
              </a:rPr>
              <a:t>•</a:t>
            </a:r>
            <a:endParaRPr/>
          </a:p>
        </p:txBody>
      </p:sp>
      <p:sp>
        <p:nvSpPr>
          <p:cNvPr id="347" name="Google Shape;347;p24"/>
          <p:cNvSpPr txBox="1"/>
          <p:nvPr/>
        </p:nvSpPr>
        <p:spPr>
          <a:xfrm>
            <a:off x="1200150" y="2667005"/>
            <a:ext cx="4267200" cy="6003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A </a:t>
            </a:r>
            <a:r>
              <a:rPr b="1" i="0" lang="en-US" sz="1500" u="none" cap="none" strike="noStrike">
                <a:solidFill>
                  <a:srgbClr val="CBD5E1"/>
                </a:solidFill>
                <a:latin typeface="Inter"/>
                <a:ea typeface="Inter"/>
                <a:cs typeface="Inter"/>
                <a:sym typeface="Inter"/>
              </a:rPr>
              <a:t>distância vetorial</a:t>
            </a:r>
            <a:r>
              <a:rPr b="0" i="0" lang="en-US" sz="1500" u="none" cap="none" strike="noStrike">
                <a:solidFill>
                  <a:srgbClr val="CBD5E1"/>
                </a:solidFill>
                <a:latin typeface="Inter"/>
                <a:ea typeface="Inter"/>
                <a:cs typeface="Inter"/>
                <a:sym typeface="Inter"/>
              </a:rPr>
              <a:t> confirmou a diferença média matemática (0.1984).</a:t>
            </a:r>
            <a:endParaRPr/>
          </a:p>
        </p:txBody>
      </p:sp>
      <p:sp>
        <p:nvSpPr>
          <p:cNvPr id="348" name="Google Shape;348;p24"/>
          <p:cNvSpPr txBox="1"/>
          <p:nvPr/>
        </p:nvSpPr>
        <p:spPr>
          <a:xfrm>
            <a:off x="1095375" y="3419480"/>
            <a:ext cx="1047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Inter"/>
                <a:ea typeface="Inter"/>
                <a:cs typeface="Inter"/>
                <a:sym typeface="Inter"/>
              </a:rPr>
              <a:t>•</a:t>
            </a:r>
            <a:endParaRPr/>
          </a:p>
        </p:txBody>
      </p:sp>
      <p:sp>
        <p:nvSpPr>
          <p:cNvPr id="349" name="Google Shape;349;p24"/>
          <p:cNvSpPr txBox="1"/>
          <p:nvPr/>
        </p:nvSpPr>
        <p:spPr>
          <a:xfrm>
            <a:off x="1200150" y="3419480"/>
            <a:ext cx="4267200" cy="96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A classificação linear simples atingiu </a:t>
            </a:r>
            <a:r>
              <a:rPr b="1" i="0" lang="en-US" sz="1500" u="none" cap="none" strike="noStrike">
                <a:solidFill>
                  <a:srgbClr val="CBD5E1"/>
                </a:solidFill>
                <a:latin typeface="Inter"/>
                <a:ea typeface="Inter"/>
                <a:cs typeface="Inter"/>
                <a:sym typeface="Inter"/>
              </a:rPr>
              <a:t>94% de acurácia</a:t>
            </a:r>
            <a:r>
              <a:rPr b="0" i="0" lang="en-US" sz="1500" u="none" cap="none" strike="noStrike">
                <a:solidFill>
                  <a:srgbClr val="CBD5E1"/>
                </a:solidFill>
                <a:latin typeface="Inter"/>
                <a:ea typeface="Inter"/>
                <a:cs typeface="Inter"/>
                <a:sym typeface="Inter"/>
              </a:rPr>
              <a:t>, provando que estilo é distinguível por IA.</a:t>
            </a:r>
            <a:endParaRPr/>
          </a:p>
        </p:txBody>
      </p:sp>
      <p:sp>
        <p:nvSpPr>
          <p:cNvPr id="350" name="Google Shape;350;p24"/>
          <p:cNvSpPr txBox="1"/>
          <p:nvPr/>
        </p:nvSpPr>
        <p:spPr>
          <a:xfrm>
            <a:off x="1095375" y="4476755"/>
            <a:ext cx="1047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Inter"/>
                <a:ea typeface="Inter"/>
                <a:cs typeface="Inter"/>
                <a:sym typeface="Inter"/>
              </a:rPr>
              <a:t>•</a:t>
            </a:r>
            <a:endParaRPr/>
          </a:p>
        </p:txBody>
      </p:sp>
      <p:sp>
        <p:nvSpPr>
          <p:cNvPr id="351" name="Google Shape;351;p24"/>
          <p:cNvSpPr txBox="1"/>
          <p:nvPr/>
        </p:nvSpPr>
        <p:spPr>
          <a:xfrm>
            <a:off x="1200150" y="4476755"/>
            <a:ext cx="4267200" cy="6003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A busca vetorial mapeou com precisão os contrastes temáticos dos governos.</a:t>
            </a:r>
            <a:endParaRPr/>
          </a:p>
        </p:txBody>
      </p:sp>
      <p:sp>
        <p:nvSpPr>
          <p:cNvPr id="352" name="Google Shape;352;p24"/>
          <p:cNvSpPr txBox="1"/>
          <p:nvPr/>
        </p:nvSpPr>
        <p:spPr>
          <a:xfrm>
            <a:off x="6953250" y="2952755"/>
            <a:ext cx="40863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8FAFC"/>
                </a:solidFill>
                <a:latin typeface="Inter"/>
                <a:ea typeface="Inter"/>
                <a:cs typeface="Inter"/>
                <a:sym typeface="Inter"/>
              </a:rPr>
              <a:t>Arquitetura RAG</a:t>
            </a:r>
            <a:endParaRPr/>
          </a:p>
        </p:txBody>
      </p:sp>
      <p:sp>
        <p:nvSpPr>
          <p:cNvPr id="353" name="Google Shape;353;p24"/>
          <p:cNvSpPr txBox="1"/>
          <p:nvPr/>
        </p:nvSpPr>
        <p:spPr>
          <a:xfrm>
            <a:off x="6953250" y="3228980"/>
            <a:ext cx="40863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SemiBold"/>
                <a:ea typeface="Inter SemiBold"/>
                <a:cs typeface="Inter SemiBold"/>
                <a:sym typeface="Inter SemiBold"/>
              </a:rPr>
              <a:t>(Retrieval Augmented Generation)</a:t>
            </a:r>
            <a:endParaRPr/>
          </a:p>
        </p:txBody>
      </p:sp>
      <p:sp>
        <p:nvSpPr>
          <p:cNvPr id="354" name="Google Shape;354;p24"/>
          <p:cNvSpPr txBox="1"/>
          <p:nvPr/>
        </p:nvSpPr>
        <p:spPr>
          <a:xfrm>
            <a:off x="6953250" y="3598521"/>
            <a:ext cx="4086300" cy="1205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94A3B8"/>
                </a:solidFill>
                <a:latin typeface="Inter"/>
                <a:ea typeface="Inter"/>
                <a:cs typeface="Inter"/>
                <a:sym typeface="Inter"/>
              </a:rPr>
              <a:t>Sistema moderno que recupera evidências baseadas em busca vetorial semântica antes de acionar um LLM para gerar respostas precisas e fundamentadas.</a:t>
            </a:r>
            <a:endParaRPr/>
          </a:p>
        </p:txBody>
      </p:sp>
      <p:sp>
        <p:nvSpPr>
          <p:cNvPr id="355" name="Google Shape;355;p24"/>
          <p:cNvSpPr txBox="1"/>
          <p:nvPr/>
        </p:nvSpPr>
        <p:spPr>
          <a:xfrm>
            <a:off x="571500" y="6"/>
            <a:ext cx="116016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Merriweather"/>
                <a:ea typeface="Merriweather"/>
                <a:cs typeface="Merriweather"/>
                <a:sym typeface="Merriweather"/>
              </a:rPr>
              <a:t>Conclusões e Implicações</a:t>
            </a:r>
            <a:endParaRPr/>
          </a:p>
        </p:txBody>
      </p:sp>
      <p:sp>
        <p:nvSpPr>
          <p:cNvPr id="356" name="Google Shape;356;p24"/>
          <p:cNvSpPr/>
          <p:nvPr/>
        </p:nvSpPr>
        <p:spPr>
          <a:xfrm>
            <a:off x="571500" y="638180"/>
            <a:ext cx="11049000" cy="19200"/>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64" name="Shape 364"/>
        <p:cNvGrpSpPr/>
        <p:nvPr/>
      </p:nvGrpSpPr>
      <p:grpSpPr>
        <a:xfrm>
          <a:off x="0" y="0"/>
          <a:ext cx="0" cy="0"/>
          <a:chOff x="0" y="0"/>
          <a:chExt cx="0" cy="0"/>
        </a:xfrm>
      </p:grpSpPr>
      <p:pic>
        <p:nvPicPr>
          <p:cNvPr descr="image.png" id="365" name="Google Shape;365;p26"/>
          <p:cNvPicPr preferRelativeResize="0"/>
          <p:nvPr/>
        </p:nvPicPr>
        <p:blipFill rotWithShape="1">
          <a:blip r:embed="rId3">
            <a:alphaModFix/>
          </a:blip>
          <a:srcRect b="0" l="0" r="0" t="0"/>
          <a:stretch/>
        </p:blipFill>
        <p:spPr>
          <a:xfrm>
            <a:off x="0" y="781000"/>
            <a:ext cx="12192000" cy="6858000"/>
          </a:xfrm>
          <a:prstGeom prst="rect">
            <a:avLst/>
          </a:prstGeom>
          <a:noFill/>
          <a:ln>
            <a:noFill/>
          </a:ln>
        </p:spPr>
      </p:pic>
      <p:sp>
        <p:nvSpPr>
          <p:cNvPr id="366" name="Google Shape;366;p26"/>
          <p:cNvSpPr/>
          <p:nvPr/>
        </p:nvSpPr>
        <p:spPr>
          <a:xfrm>
            <a:off x="1333500" y="1038212"/>
            <a:ext cx="9525000" cy="1409700"/>
          </a:xfrm>
          <a:prstGeom prst="roundRect">
            <a:avLst>
              <a:gd fmla="val 5405" name="adj"/>
            </a:avLst>
          </a:prstGeom>
          <a:solidFill>
            <a:srgbClr val="1E293B"/>
          </a:solidFill>
          <a:ln cap="flat" cmpd="sng" w="9525">
            <a:solidFill>
              <a:srgbClr val="3341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7" name="Google Shape;367;p26"/>
          <p:cNvSpPr txBox="1"/>
          <p:nvPr/>
        </p:nvSpPr>
        <p:spPr>
          <a:xfrm>
            <a:off x="2000250" y="1276337"/>
            <a:ext cx="8572500" cy="846600"/>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None/>
            </a:pPr>
            <a:r>
              <a:rPr b="1" i="0" lang="en-US" sz="1500" u="none" cap="none" strike="noStrike">
                <a:solidFill>
                  <a:srgbClr val="F8FAFC"/>
                </a:solidFill>
                <a:latin typeface="Inter"/>
                <a:ea typeface="Inter"/>
                <a:cs typeface="Inter"/>
                <a:sym typeface="Inter"/>
              </a:rPr>
              <a:t>Formação de Clusters Distintos</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CBD5E1"/>
                </a:solidFill>
                <a:latin typeface="Inter"/>
                <a:ea typeface="Inter"/>
                <a:cs typeface="Inter"/>
                <a:sym typeface="Inter"/>
              </a:rPr>
              <a:t> O gráfico revelou agrupamentos (clusters) claros e separados para as frases de Obama e Trump, evidenciando o contraste.</a:t>
            </a:r>
            <a:endParaRPr/>
          </a:p>
        </p:txBody>
      </p:sp>
      <p:sp>
        <p:nvSpPr>
          <p:cNvPr id="368" name="Google Shape;368;p26"/>
          <p:cNvSpPr/>
          <p:nvPr/>
        </p:nvSpPr>
        <p:spPr>
          <a:xfrm>
            <a:off x="1333500" y="2638412"/>
            <a:ext cx="9525000" cy="1409700"/>
          </a:xfrm>
          <a:prstGeom prst="roundRect">
            <a:avLst>
              <a:gd fmla="val 5405" name="adj"/>
            </a:avLst>
          </a:prstGeom>
          <a:solidFill>
            <a:srgbClr val="1E293B"/>
          </a:solidFill>
          <a:ln cap="flat" cmpd="sng" w="9525">
            <a:solidFill>
              <a:srgbClr val="3341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9" name="Google Shape;369;p26"/>
          <p:cNvSpPr txBox="1"/>
          <p:nvPr/>
        </p:nvSpPr>
        <p:spPr>
          <a:xfrm>
            <a:off x="2000250" y="2876537"/>
            <a:ext cx="8572500" cy="846600"/>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None/>
            </a:pPr>
            <a:r>
              <a:rPr b="1" i="0" lang="en-US" sz="1500" u="none" cap="none" strike="noStrike">
                <a:solidFill>
                  <a:srgbClr val="F8FAFC"/>
                </a:solidFill>
                <a:latin typeface="Inter"/>
                <a:ea typeface="Inter"/>
                <a:cs typeface="Inter"/>
                <a:sym typeface="Inter"/>
              </a:rPr>
              <a:t>Pequena Sobreposição nas Bordas</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CBD5E1"/>
                </a:solidFill>
                <a:latin typeface="Inter"/>
                <a:ea typeface="Inter"/>
                <a:cs typeface="Inter"/>
                <a:sym typeface="Inter"/>
              </a:rPr>
              <a:t> Algumas frases se misturam nas fronteiras dos clusters, indicando temas ou palavras de uso comum entre ambos os políticos.</a:t>
            </a:r>
            <a:endParaRPr/>
          </a:p>
        </p:txBody>
      </p:sp>
      <p:sp>
        <p:nvSpPr>
          <p:cNvPr id="370" name="Google Shape;370;p26"/>
          <p:cNvSpPr/>
          <p:nvPr/>
        </p:nvSpPr>
        <p:spPr>
          <a:xfrm>
            <a:off x="1333500" y="4238612"/>
            <a:ext cx="9525000" cy="1409700"/>
          </a:xfrm>
          <a:prstGeom prst="roundRect">
            <a:avLst>
              <a:gd fmla="val 5405" name="adj"/>
            </a:avLst>
          </a:prstGeom>
          <a:solidFill>
            <a:srgbClr val="1E293B"/>
          </a:solidFill>
          <a:ln cap="flat" cmpd="sng" w="9525">
            <a:solidFill>
              <a:srgbClr val="3341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1" name="Google Shape;371;p26"/>
          <p:cNvSpPr txBox="1"/>
          <p:nvPr/>
        </p:nvSpPr>
        <p:spPr>
          <a:xfrm>
            <a:off x="2000250" y="4476737"/>
            <a:ext cx="8572500" cy="846600"/>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None/>
            </a:pPr>
            <a:r>
              <a:rPr b="1" i="0" lang="en-US" sz="1500" u="none" cap="none" strike="noStrike">
                <a:solidFill>
                  <a:srgbClr val="F8FAFC"/>
                </a:solidFill>
                <a:latin typeface="Inter"/>
                <a:ea typeface="Inter"/>
                <a:cs typeface="Inter"/>
                <a:sym typeface="Inter"/>
              </a:rPr>
              <a:t>Separação Geral Evidente</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CBD5E1"/>
                </a:solidFill>
                <a:latin typeface="Inter"/>
                <a:ea typeface="Inter"/>
                <a:cs typeface="Inter"/>
                <a:sym typeface="Inter"/>
              </a:rPr>
              <a:t> A divisão visual confirma que o modelo de NLP capturou diferenças estruturais e temáticas reais de linguagem na maior parte do dataset.</a:t>
            </a:r>
            <a:endParaRPr/>
          </a:p>
        </p:txBody>
      </p:sp>
      <p:sp>
        <p:nvSpPr>
          <p:cNvPr id="372" name="Google Shape;372;p26"/>
          <p:cNvSpPr/>
          <p:nvPr/>
        </p:nvSpPr>
        <p:spPr>
          <a:xfrm>
            <a:off x="1333500" y="5838812"/>
            <a:ext cx="9525000" cy="1409700"/>
          </a:xfrm>
          <a:prstGeom prst="roundRect">
            <a:avLst>
              <a:gd fmla="val 5405" name="adj"/>
            </a:avLst>
          </a:prstGeom>
          <a:solidFill>
            <a:srgbClr val="1E293B"/>
          </a:solidFill>
          <a:ln cap="flat" cmpd="sng" w="9525">
            <a:solidFill>
              <a:srgbClr val="3341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3" name="Google Shape;373;p26"/>
          <p:cNvSpPr txBox="1"/>
          <p:nvPr/>
        </p:nvSpPr>
        <p:spPr>
          <a:xfrm>
            <a:off x="2000250" y="6076937"/>
            <a:ext cx="8572500" cy="846600"/>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None/>
            </a:pPr>
            <a:r>
              <a:rPr b="1" i="0" lang="en-US" sz="1500" u="none" cap="none" strike="noStrike">
                <a:solidFill>
                  <a:srgbClr val="F8FAFC"/>
                </a:solidFill>
                <a:latin typeface="Inter"/>
                <a:ea typeface="Inter"/>
                <a:cs typeface="Inter"/>
                <a:sym typeface="Inter"/>
              </a:rPr>
              <a:t>Interpretação Semântica</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CBD5E1"/>
                </a:solidFill>
                <a:latin typeface="Inter"/>
                <a:ea typeface="Inter"/>
                <a:cs typeface="Inter"/>
                <a:sym typeface="Inter"/>
              </a:rPr>
              <a:t> A separação comprova que os autores abordam tópicos de maneira distinta, utilizando vocabulários que ocupam regiões opostas do espaço vetorial.</a:t>
            </a:r>
            <a:endParaRPr/>
          </a:p>
        </p:txBody>
      </p:sp>
      <p:sp>
        <p:nvSpPr>
          <p:cNvPr id="374" name="Google Shape;374;p26"/>
          <p:cNvSpPr/>
          <p:nvPr/>
        </p:nvSpPr>
        <p:spPr>
          <a:xfrm>
            <a:off x="1333500" y="2438387"/>
            <a:ext cx="9525000" cy="96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5" name="Google Shape;375;p26"/>
          <p:cNvSpPr/>
          <p:nvPr/>
        </p:nvSpPr>
        <p:spPr>
          <a:xfrm>
            <a:off x="1333500" y="4038587"/>
            <a:ext cx="9525000" cy="96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6" name="Google Shape;376;p26"/>
          <p:cNvSpPr/>
          <p:nvPr/>
        </p:nvSpPr>
        <p:spPr>
          <a:xfrm>
            <a:off x="1333500" y="5638787"/>
            <a:ext cx="9525000" cy="96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7" name="Google Shape;377;p26"/>
          <p:cNvSpPr/>
          <p:nvPr/>
        </p:nvSpPr>
        <p:spPr>
          <a:xfrm>
            <a:off x="1333500" y="7238987"/>
            <a:ext cx="9525000" cy="96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78" name="Google Shape;378;p26"/>
          <p:cNvPicPr preferRelativeResize="0"/>
          <p:nvPr/>
        </p:nvPicPr>
        <p:blipFill rotWithShape="1">
          <a:blip r:embed="rId4">
            <a:alphaModFix/>
          </a:blip>
          <a:srcRect b="0" l="0" r="0" t="0"/>
          <a:stretch/>
        </p:blipFill>
        <p:spPr>
          <a:xfrm>
            <a:off x="1581150" y="4481500"/>
            <a:ext cx="266700" cy="276225"/>
          </a:xfrm>
          <a:prstGeom prst="rect">
            <a:avLst/>
          </a:prstGeom>
          <a:noFill/>
          <a:ln>
            <a:noFill/>
          </a:ln>
        </p:spPr>
      </p:pic>
      <p:pic>
        <p:nvPicPr>
          <p:cNvPr descr="image.png" id="379" name="Google Shape;379;p26"/>
          <p:cNvPicPr preferRelativeResize="0"/>
          <p:nvPr/>
        </p:nvPicPr>
        <p:blipFill rotWithShape="1">
          <a:blip r:embed="rId5">
            <a:alphaModFix/>
          </a:blip>
          <a:srcRect b="0" l="0" r="0" t="0"/>
          <a:stretch/>
        </p:blipFill>
        <p:spPr>
          <a:xfrm>
            <a:off x="1581150" y="6081700"/>
            <a:ext cx="200025" cy="276225"/>
          </a:xfrm>
          <a:prstGeom prst="rect">
            <a:avLst/>
          </a:prstGeom>
          <a:noFill/>
          <a:ln>
            <a:noFill/>
          </a:ln>
        </p:spPr>
      </p:pic>
      <p:sp>
        <p:nvSpPr>
          <p:cNvPr id="380" name="Google Shape;380;p26"/>
          <p:cNvSpPr txBox="1"/>
          <p:nvPr/>
        </p:nvSpPr>
        <p:spPr>
          <a:xfrm>
            <a:off x="571500" y="-12"/>
            <a:ext cx="116016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Merriweather"/>
                <a:ea typeface="Merriweather"/>
                <a:cs typeface="Merriweather"/>
                <a:sym typeface="Merriweather"/>
              </a:rPr>
              <a:t>Insights da Visualização UMAP</a:t>
            </a:r>
            <a:endParaRPr/>
          </a:p>
        </p:txBody>
      </p:sp>
      <p:sp>
        <p:nvSpPr>
          <p:cNvPr id="381" name="Google Shape;381;p26"/>
          <p:cNvSpPr/>
          <p:nvPr/>
        </p:nvSpPr>
        <p:spPr>
          <a:xfrm>
            <a:off x="571500" y="638162"/>
            <a:ext cx="11049000" cy="19200"/>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